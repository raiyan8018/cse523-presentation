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56"/>
  </p:notesMasterIdLst>
  <p:sldIdLst>
    <p:sldId id="256" r:id="rId2"/>
    <p:sldId id="322" r:id="rId3"/>
    <p:sldId id="326" r:id="rId4"/>
    <p:sldId id="324" r:id="rId5"/>
    <p:sldId id="295" r:id="rId6"/>
    <p:sldId id="264" r:id="rId7"/>
    <p:sldId id="297" r:id="rId8"/>
    <p:sldId id="298" r:id="rId9"/>
    <p:sldId id="299" r:id="rId10"/>
    <p:sldId id="300" r:id="rId11"/>
    <p:sldId id="302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03" r:id="rId27"/>
    <p:sldId id="305" r:id="rId28"/>
    <p:sldId id="306" r:id="rId29"/>
    <p:sldId id="307" r:id="rId30"/>
    <p:sldId id="323" r:id="rId31"/>
    <p:sldId id="325" r:id="rId32"/>
    <p:sldId id="327" r:id="rId33"/>
    <p:sldId id="329" r:id="rId34"/>
    <p:sldId id="348" r:id="rId35"/>
    <p:sldId id="328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7" r:id="rId49"/>
    <p:sldId id="342" r:id="rId50"/>
    <p:sldId id="344" r:id="rId51"/>
    <p:sldId id="345" r:id="rId52"/>
    <p:sldId id="346" r:id="rId53"/>
    <p:sldId id="343" r:id="rId54"/>
    <p:sldId id="273" r:id="rId5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7"/>
    </p:embeddedFont>
    <p:embeddedFont>
      <p:font typeface="Didact Gothic" panose="00000500000000000000" pitchFamily="2" charset="0"/>
      <p:regular r:id="rId58"/>
    </p:embeddedFont>
    <p:embeddedFont>
      <p:font typeface="Libre Franklin" pitchFamily="2" charset="0"/>
      <p:regular r:id="rId59"/>
      <p:bold r:id="rId60"/>
      <p:italic r:id="rId61"/>
      <p:boldItalic r:id="rId62"/>
    </p:embeddedFont>
    <p:embeddedFont>
      <p:font typeface="Poppins" panose="00000500000000000000" pitchFamily="2" charset="0"/>
      <p:regular r:id="rId63"/>
      <p:bold r:id="rId64"/>
      <p:italic r:id="rId65"/>
      <p:boldItalic r:id="rId66"/>
    </p:embeddedFont>
    <p:embeddedFont>
      <p:font typeface="Raleway" pitchFamily="2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IYAN GANI" initials="RG" lastIdx="1" clrIdx="0">
    <p:extLst>
      <p:ext uri="{19B8F6BF-5375-455C-9EA6-DF929625EA0E}">
        <p15:presenceInfo xmlns:p15="http://schemas.microsoft.com/office/powerpoint/2012/main" userId="d5628cd8ab0c51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D6ADBD-778C-41C1-A208-60144215E61F}">
  <a:tblStyle styleId="{B5D6ADBD-778C-41C1-A208-60144215E6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79DA2479-B6D9-B2E5-E230-8625C6A5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11E04ED-00ED-B429-DE4E-9BC8F2A3E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7ECF4EF4-F4F7-78DC-9BA0-EE37D9E35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0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ADC51D1-744A-7815-9019-5E0D9726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4E68E3AA-A186-802A-1106-0101D94A8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5DF57684-9D63-F7A5-1298-23C555CC7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956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4E408A3-53E0-1D5C-CD37-DA27438B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D2E4C8DF-0378-C0B6-0B40-7F1C5B89A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4F5D458F-758D-6F6E-2C3A-3136493BD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83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EEE0CDF-594F-9BEB-7132-0F2427F2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860FB221-E782-F9FE-7BE8-B285BEE64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56697F56-0E0D-9F41-FF68-062A722AC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950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8" name="Google Shape;348;g2b1022eedc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83D5176-8116-74FE-81C9-C6E814EA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8DE37614-E2D5-E1DF-4EA2-0EEBAAEF1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E35D1F1B-E888-F20F-4C76-9B7152754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928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946F5D7D-0C01-312A-85F3-0B292E74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37797BD9-90E6-5F1A-70E4-91BE80F64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E25C703D-BA57-49E4-5154-27E48DEA4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936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8B74680-D49A-155E-F2B3-C7DE9F6D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4151871B-5D79-3520-F4E2-9A1150E310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58E0273F-E7AA-CA12-99CF-D36889598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33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AB43DBCB-36EC-E04F-E4A6-3FF1B3CF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2DE9E893-9A25-87BF-C110-CF9A2F98D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17057DCD-8F3D-2FC9-22B7-61CF8DFC9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244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28F4791-290B-DE82-D527-69BEBC0D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153C68F-A31B-3118-710F-5AF60DAAA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C809506D-8AED-8287-C985-5EF8CB975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078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EAE14BC3-6A2D-C913-38A2-746573F7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CAD21D21-1E4D-DDAF-0553-A0AD2F1B1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F9F63FE-FD3C-23DE-991A-09E0A592E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461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46CD45D-FCC0-40E1-A41C-3F89D698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DF477049-C9E4-291E-EA9F-FA208904F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EA108FF-D922-F776-5A5A-73D29DD0F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592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7AC46D9-54F7-BB19-A80A-2F9D2DE4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5EBA9CEE-8C38-3B3B-21D9-AEA3806B8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12733D7A-0F32-6485-072F-E6260493B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398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01673E3-3C1A-DA30-55DC-E21FC6598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DA4313A-D586-7F93-4D8D-65064A621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6C5BFF93-0DBF-EF72-97F4-8BC0394EE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20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E840E2EB-F4CB-8C76-BBE4-150CDFE1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0AE7460B-9892-5FCA-5E26-74A21AC64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3C26E038-5E71-7A61-8243-308B6D124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606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C726D30-F78F-4492-CFA7-BC22CF20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E9588CF-D24E-7E64-C621-617552610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DCE78441-BEAA-8A2B-77CB-08C67A6EA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925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E6C2317-4A07-57E9-940A-5F140202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7CEA637F-A8C3-D080-A7FA-24ECE5546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FEBEB26D-69CB-16ED-1690-CC0514748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935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5E81095-7442-9F95-6DA7-A1D9868D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9C5C313F-678D-F98D-8DC2-D7CB555F9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7F4748E8-F304-217D-ED6A-9A4C5EC58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212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8B2C02DE-8E96-AFE9-4FD0-D6ABAB08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A8630412-722C-C921-80F9-0C8DA6163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87D8C056-BCBA-E697-88A6-32931FA1D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409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2B2A7B0-0879-21D8-370C-9DF3081D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5E564250-4428-D40C-0599-11B0C60C2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1633567-F428-4EFC-AFC1-CEA9A41B3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2498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F87EA400-9683-881A-2ACD-8D9C82E4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2A4C1205-5141-9D94-21D6-9BB57421D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3FF06ACF-25A8-2331-9584-0B1DDD57C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112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F38A4653-E062-6793-463D-52858160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4AADDAC5-53CA-096D-A326-4752C23D7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2431863D-F692-895A-6625-50AB41827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690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3261B6F-E6DE-E684-0466-DA294A54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0C1F5787-B9AB-45CE-8EFA-A81B115D1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68EC9783-7C3A-3B42-01C9-DB47A9A22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2650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7792F784-45E0-CAED-3B00-7C36E651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44F51860-5BBC-B0DA-342B-4EF419B74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B607E532-5C1F-6397-6CAD-001F904EF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1076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FEDFDC15-0DB0-7022-1D41-7ADBC364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C2921859-32A9-40A1-37DC-292AC4448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5F454B52-7D2B-E775-4D14-6A70D7799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142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466B57B-159A-B337-B8A0-D43EACE6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95A56256-5CE5-BDF7-251C-F861CAE1A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8E50F5A0-99D3-8CC8-61CD-133A84393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649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D6724E10-AFB9-A416-9B44-E5CDEC8A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2851C9DC-A85A-49CB-04BE-0B1183C29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7820F2E-031C-93A1-F282-8AF7EA892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59618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E9D393D0-AB96-3360-1C98-4F60EA80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AF62B7A8-C5C7-B499-C2DA-C0197B674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2DFC3CEE-F6B5-C203-060A-ACA6CFCE8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3921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C37822B-B0D0-887F-98FD-AB217BF19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>
            <a:extLst>
              <a:ext uri="{FF2B5EF4-FFF2-40B4-BE49-F238E27FC236}">
                <a16:creationId xmlns:a16="http://schemas.microsoft.com/office/drawing/2014/main" id="{BC35813E-5420-2649-E04B-25DFF9C3D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4dfce81f19_0_45:notes">
            <a:extLst>
              <a:ext uri="{FF2B5EF4-FFF2-40B4-BE49-F238E27FC236}">
                <a16:creationId xmlns:a16="http://schemas.microsoft.com/office/drawing/2014/main" id="{DBA92970-BFF9-766C-C0D2-203132EE1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9150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9FB0E6F-C79A-D1C7-4F5A-3B8B0848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3B7A57F4-B42F-58E8-C13C-061C976E1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6E1CAD44-C5F9-8E12-0031-B642DF08D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732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907DE05E-8618-B094-E860-51500C80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ADA4E49E-5839-C93D-145D-3E1CFDA4C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3DF1C440-2D38-5802-05FD-D120CCCBF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460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FD07AE1-BDD9-EBBE-30E7-DE9040CB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5965E5C2-A0B5-525C-E4C9-11D5EE155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E94F1933-6653-70CE-59DE-89CE8B685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5674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92918E1-26A1-66B5-962B-0C407217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4B2C3344-ECED-999F-B16C-EE9338A59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FB7873A-E7AC-95CA-E4DB-7222B1E3E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2576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7720AE4-6970-1C13-408E-09CCA2FE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F9F1B594-F3F2-E787-9D71-07C9F1CCD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2F1A3EE-5203-5B38-3FED-41427FDDA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1886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990C2D77-CC48-3369-0720-A650A934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58305168-1619-0128-1E71-9867137DB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CB282BA8-6689-360E-F302-68DCB2AF3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908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7C68F25-B6CD-4826-E61D-2DBB13A5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C8FD51CB-DA94-3D01-41A7-918D78594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D76969A4-E9C0-3821-C987-B69A79358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50010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B1EA4A8A-767C-EAA4-0BAC-DBBAACEB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98DDB564-1705-ADED-4550-996B252EC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18D09648-5ADC-39F8-E05A-BC98E51A3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8876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7625D4F2-99B4-7066-3D2D-C2592CD78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C9BF4EAA-1267-22D5-07E0-352685D55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F864510D-CDC0-5C79-D03E-33B79C51F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105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46B8913-9A24-25DC-DD4B-4593C0E4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7BB4B947-33A7-CE42-AEFA-1E954CB08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D0CF3A03-7600-AD6E-C59B-9A85EE3C4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8552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605F6746-D273-D2F2-0B65-83D3AB5D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3A63EE24-43FA-1FE3-A2BA-3CABFA86E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40A086D5-C5FD-C500-B520-29F0670BC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7292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4D35548-18F5-D135-76E1-5583EA79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2D47EE5-2946-2716-1C0B-D13C1AEA4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360D733C-51CE-DDC3-7BE2-BB3E03E54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3969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F8E11884-6C05-BC55-5194-11BFDA0D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E96A9CB8-4A6D-34BC-9B50-1CD1DBB52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10321DDC-158D-044E-D029-997B7235F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1260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811188F-6D63-B580-A3C6-844969B4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B2CFA7E1-4CA0-0947-A296-3C31C44C4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B201D8D9-CE2F-442C-980F-8B32671D5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6823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BD48971-CD2B-B57B-A88D-36AA7C3F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F02AD743-1174-85A2-E128-AEABCDBD0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457807C0-1497-742B-4EFD-50AACF595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7877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AD8657C-2840-1290-844B-D1122416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7E93939D-2530-424D-BC8D-51D49D622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19B3C59F-DA91-278D-B848-355ED421E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2639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45FD083-9899-8328-0D5A-99567246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30BC4AF9-A47E-5FA0-6AD2-D31A32339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A9D52FA7-FCBC-27A7-67E3-71E8CFCB1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0575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FD5317A-8996-393F-0317-F8FDA208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CF42DEBA-AF41-3063-17BA-28695FA7D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5C317EB6-85DD-B918-E01D-084F32BF6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5078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F007085-95D7-CB6A-9AFB-2331FE71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B9BEC90B-CCD8-CD61-FA83-B4064C993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8C610C52-A838-2A6D-C2AE-9F450DCAE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7920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3A4FA89-0B21-3129-A3FA-F5BB63BF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6660F738-118C-AD1D-AE17-46A6EC4DF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B45E8047-95B0-1F7A-8F51-DA697D5E2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3690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DCAD89AF-89D3-B8A5-E8EC-9C642588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C89E70A-46F0-AD13-362B-1AF78909B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4E27A85C-0556-4FAE-CB17-694E6D092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1362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4A590D7-376A-6068-AC36-AC2FA52A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819C077D-2407-C161-CDE9-C5C52BA73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0CE88626-217D-F089-EB3C-B6E922F0A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8511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AF67ABF-00E7-A1AE-B9C0-9C86B482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>
            <a:extLst>
              <a:ext uri="{FF2B5EF4-FFF2-40B4-BE49-F238E27FC236}">
                <a16:creationId xmlns:a16="http://schemas.microsoft.com/office/drawing/2014/main" id="{15CC4772-5BA9-64E8-DC12-50B6F8520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7" name="Google Shape;237;g2b1022eedc3_0_16:notes">
            <a:extLst>
              <a:ext uri="{FF2B5EF4-FFF2-40B4-BE49-F238E27FC236}">
                <a16:creationId xmlns:a16="http://schemas.microsoft.com/office/drawing/2014/main" id="{F21A2082-EA24-5101-685D-8EFD69B3D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2552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2" name="Google Shape;73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12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332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1355125" y="3611950"/>
            <a:ext cx="48105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000" b="1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88" name="Google Shape;88;p14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 rot="10800000">
            <a:off x="8415525" y="0"/>
            <a:ext cx="728475" cy="5163250"/>
            <a:chOff x="-8400" y="0"/>
            <a:chExt cx="728475" cy="5163250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Gray Level Co-occurrence Matrix (GLCM)</a:t>
            </a:r>
            <a:endParaRPr b="0"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CSE523 – Digital Image Processing</a:t>
            </a:r>
            <a:endParaRPr dirty="0"/>
          </a:p>
        </p:txBody>
      </p:sp>
      <p:cxnSp>
        <p:nvCxnSpPr>
          <p:cNvPr id="110" name="Google Shape;110;p20"/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3797861C-B4C8-1417-1F92-C37DA614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36077941-715F-41DE-2E3E-3F08D9FA1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Gray Level Co-occurrence (GLCM)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5645E7B9-49FC-8B3B-857D-A0B8EB878E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Texture</a:t>
            </a:r>
            <a:r>
              <a:rPr lang="en" sz="2000" b="1" dirty="0"/>
              <a:t>:</a:t>
            </a:r>
            <a:endParaRPr lang="en" sz="1600" b="1" dirty="0"/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sz="1600" b="1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Texture in an image means how a surface looks and feels visually — whether it appears smooth, rough, bumpy, or patterned.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Texture comes from how pixel values change and repeat in a small area of the image.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B095A1-18AD-E8B8-C34E-D51618FC5B21}"/>
              </a:ext>
            </a:extLst>
          </p:cNvPr>
          <p:cNvGrpSpPr/>
          <p:nvPr/>
        </p:nvGrpSpPr>
        <p:grpSpPr>
          <a:xfrm>
            <a:off x="2821117" y="3315753"/>
            <a:ext cx="3501765" cy="1645991"/>
            <a:chOff x="2022110" y="3305020"/>
            <a:chExt cx="4560133" cy="15190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A53D50-29FF-697B-8E78-A7E4E2225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2110" y="3305021"/>
              <a:ext cx="2280067" cy="15190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328EBCC-7632-3809-EEC0-BD5FD1A5E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1369"/>
            <a:stretch>
              <a:fillRect/>
            </a:stretch>
          </p:blipFill>
          <p:spPr>
            <a:xfrm>
              <a:off x="4302177" y="3305020"/>
              <a:ext cx="2280066" cy="1519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315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B092076C-DDBD-9618-CCF8-373E7B4F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BFC7D0D7-DBB2-90BF-B0F3-EBFF84433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Gray Level Co-occurrence (GLCM)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43F39065-C1A0-BD2F-1828-81800AB458C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B</a:t>
            </a:r>
            <a:r>
              <a:rPr lang="en" sz="2000" b="1" dirty="0"/>
              <a:t>ackground:</a:t>
            </a:r>
            <a:endParaRPr lang="en" sz="1600" b="1" dirty="0"/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sz="1600" b="1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An image histogram only counts how many times an intensity occurs, but not where it occurs.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Many textures have similar histograms but different spatial patterns.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A03C9-5C46-0C9E-169F-9A50B83E1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15" y="3051969"/>
            <a:ext cx="4120131" cy="20015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4D222-79B2-B84F-5A48-FF492B20F1F2}"/>
              </a:ext>
            </a:extLst>
          </p:cNvPr>
          <p:cNvSpPr txBox="1"/>
          <p:nvPr/>
        </p:nvSpPr>
        <p:spPr>
          <a:xfrm>
            <a:off x="5736432" y="3683431"/>
            <a:ext cx="2871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Didact Gothic" panose="00000500000000000000" pitchFamily="2" charset="0"/>
              </a:rPr>
              <a:t>Keynote: </a:t>
            </a:r>
          </a:p>
          <a:p>
            <a:r>
              <a:rPr lang="en-US" dirty="0">
                <a:latin typeface="Didact Gothic" panose="00000500000000000000" pitchFamily="2" charset="0"/>
              </a:rPr>
              <a:t>Texture is determined not only by intensities but by their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2526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1D8F9239-D263-2F73-38CC-CCC81B29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364D3DD2-289C-F6C4-B397-BA45E43EDB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Gray Level Co-occurrence (GLCM)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54E536F0-F29E-A025-E40B-A72E49F46D1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000" b="1" dirty="0"/>
              <a:t>B</a:t>
            </a:r>
            <a:r>
              <a:rPr lang="en" sz="2000" b="1" dirty="0"/>
              <a:t>ackground :</a:t>
            </a:r>
            <a:endParaRPr lang="en" sz="1600" b="1" dirty="0"/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sz="16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By studying texture, a computer can understand what kind of surface is in an image.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This helps in tasks like finding objects, separating regions, or identifying diseases in medical images.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Methods like GLCM and LBP help computers measure these texture patterns automatically.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2466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C4C00BAF-822C-9F12-8CA5-F5A74522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5F348DD0-BD93-73EB-2694-F31C3AC04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Gray Level Co-occurrence (GLCM)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F34DC0A9-0254-F46D-5B22-FCAC7DAB93B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GLCM:</a:t>
            </a:r>
            <a:endParaRPr lang="en" sz="1600" b="1" dirty="0"/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sz="16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GLCM (Gray Level Co-occurrence Matrix) captures how often pairs of gray levels occur next to each other in a specific direction and distance.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It encodes spatial relationships between pixels → good for texture analysis.</a:t>
            </a:r>
            <a:br>
              <a:rPr lang="en-US" sz="1600" dirty="0"/>
            </a:br>
            <a:endParaRPr lang="en-US" sz="1600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It is simple and interpretable: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the matrix itself is just co-occurrence counts; </a:t>
            </a:r>
            <a:br>
              <a:rPr lang="en-US" sz="1600" dirty="0"/>
            </a:br>
            <a:endParaRPr lang="en-US" sz="1600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from it we derive well-known features (contrast, energy, homogeneity, correlation, etc.).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421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p:sp>
        <p:nvSpPr>
          <p:cNvPr id="351" name="Google Shape;351;p28"/>
          <p:cNvSpPr/>
          <p:nvPr/>
        </p:nvSpPr>
        <p:spPr>
          <a:xfrm rot="5400000">
            <a:off x="3603217" y="1612170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2" name="Google Shape;352;p28"/>
          <p:cNvSpPr/>
          <p:nvPr/>
        </p:nvSpPr>
        <p:spPr>
          <a:xfrm rot="5400000">
            <a:off x="4544364" y="1612170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3" name="Google Shape;353;p28"/>
          <p:cNvSpPr/>
          <p:nvPr/>
        </p:nvSpPr>
        <p:spPr>
          <a:xfrm rot="5400000">
            <a:off x="5022750" y="2458571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4" name="Google Shape;354;p28"/>
          <p:cNvSpPr/>
          <p:nvPr/>
        </p:nvSpPr>
        <p:spPr>
          <a:xfrm rot="5400000">
            <a:off x="3118346" y="2458571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5" name="Google Shape;355;p28"/>
          <p:cNvSpPr/>
          <p:nvPr/>
        </p:nvSpPr>
        <p:spPr>
          <a:xfrm rot="5400000">
            <a:off x="3603217" y="3309781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6" name="Google Shape;356;p28"/>
          <p:cNvSpPr/>
          <p:nvPr/>
        </p:nvSpPr>
        <p:spPr>
          <a:xfrm rot="5400000">
            <a:off x="4544364" y="3309781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57" name="Google Shape;357;p28"/>
          <p:cNvSpPr txBox="1">
            <a:spLocks noGrp="1"/>
          </p:cNvSpPr>
          <p:nvPr>
            <p:ph type="subTitle" idx="4294967295"/>
          </p:nvPr>
        </p:nvSpPr>
        <p:spPr>
          <a:xfrm>
            <a:off x="3268650" y="26433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28"/>
          <p:cNvSpPr txBox="1">
            <a:spLocks noGrp="1"/>
          </p:cNvSpPr>
          <p:nvPr>
            <p:ph type="subTitle" idx="4294967295"/>
          </p:nvPr>
        </p:nvSpPr>
        <p:spPr>
          <a:xfrm>
            <a:off x="3753525" y="17945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28"/>
          <p:cNvSpPr txBox="1">
            <a:spLocks noGrp="1"/>
          </p:cNvSpPr>
          <p:nvPr>
            <p:ph type="subTitle" idx="4294967295"/>
          </p:nvPr>
        </p:nvSpPr>
        <p:spPr>
          <a:xfrm>
            <a:off x="4694675" y="17945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oppins"/>
                <a:ea typeface="Poppins"/>
                <a:cs typeface="Poppins"/>
                <a:sym typeface="Poppins"/>
              </a:rPr>
              <a:t>02</a:t>
            </a:r>
            <a:endParaRPr sz="2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28"/>
          <p:cNvSpPr txBox="1">
            <a:spLocks noGrp="1"/>
          </p:cNvSpPr>
          <p:nvPr>
            <p:ph type="subTitle" idx="4294967295"/>
          </p:nvPr>
        </p:nvSpPr>
        <p:spPr>
          <a:xfrm>
            <a:off x="4694675" y="34921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28"/>
          <p:cNvSpPr txBox="1">
            <a:spLocks noGrp="1"/>
          </p:cNvSpPr>
          <p:nvPr>
            <p:ph type="subTitle" idx="4294967295"/>
          </p:nvPr>
        </p:nvSpPr>
        <p:spPr>
          <a:xfrm>
            <a:off x="3753525" y="34921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oppins"/>
                <a:ea typeface="Poppins"/>
                <a:cs typeface="Poppins"/>
                <a:sym typeface="Poppins"/>
              </a:rPr>
              <a:t>05</a:t>
            </a:r>
            <a:endParaRPr sz="2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28"/>
          <p:cNvSpPr txBox="1">
            <a:spLocks noGrp="1"/>
          </p:cNvSpPr>
          <p:nvPr>
            <p:ph type="subTitle" idx="4294967295"/>
          </p:nvPr>
        </p:nvSpPr>
        <p:spPr>
          <a:xfrm>
            <a:off x="5173050" y="2643370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oppins"/>
                <a:ea typeface="Poppins"/>
                <a:cs typeface="Poppins"/>
                <a:sym typeface="Poppins"/>
              </a:rPr>
              <a:t>03</a:t>
            </a:r>
            <a:endParaRPr sz="2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28"/>
          <p:cNvSpPr txBox="1">
            <a:spLocks noGrp="1"/>
          </p:cNvSpPr>
          <p:nvPr>
            <p:ph type="subTitle" idx="4294967295"/>
          </p:nvPr>
        </p:nvSpPr>
        <p:spPr>
          <a:xfrm>
            <a:off x="6093474" y="1379219"/>
            <a:ext cx="2788197" cy="8911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Choose offset (distance + direction)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28"/>
          <p:cNvSpPr txBox="1">
            <a:spLocks noGrp="1"/>
          </p:cNvSpPr>
          <p:nvPr>
            <p:ph type="subTitle" idx="4294967295"/>
          </p:nvPr>
        </p:nvSpPr>
        <p:spPr>
          <a:xfrm>
            <a:off x="6093474" y="2699770"/>
            <a:ext cx="2788196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Build the GLCM 𝑃(𝑖,𝑗)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28"/>
          <p:cNvSpPr txBox="1">
            <a:spLocks noGrp="1"/>
          </p:cNvSpPr>
          <p:nvPr>
            <p:ph type="subTitle" idx="4294967295"/>
          </p:nvPr>
        </p:nvSpPr>
        <p:spPr>
          <a:xfrm>
            <a:off x="6093475" y="3590833"/>
            <a:ext cx="2337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Symmetrization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28"/>
          <p:cNvSpPr txBox="1">
            <a:spLocks noGrp="1"/>
          </p:cNvSpPr>
          <p:nvPr>
            <p:ph type="subTitle" idx="4294967295"/>
          </p:nvPr>
        </p:nvSpPr>
        <p:spPr>
          <a:xfrm>
            <a:off x="713225" y="1781206"/>
            <a:ext cx="2337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Quantize gray levels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28"/>
          <p:cNvSpPr txBox="1">
            <a:spLocks noGrp="1"/>
          </p:cNvSpPr>
          <p:nvPr>
            <p:ph type="subTitle" idx="4294967295"/>
          </p:nvPr>
        </p:nvSpPr>
        <p:spPr>
          <a:xfrm>
            <a:off x="713225" y="2750012"/>
            <a:ext cx="2337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Derive texture features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28"/>
          <p:cNvSpPr txBox="1">
            <a:spLocks noGrp="1"/>
          </p:cNvSpPr>
          <p:nvPr>
            <p:ph type="subTitle" idx="4294967295"/>
          </p:nvPr>
        </p:nvSpPr>
        <p:spPr>
          <a:xfrm>
            <a:off x="713225" y="3744170"/>
            <a:ext cx="2337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Normalize to get probabilities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" name="Google Shape;599;p33">
            <a:extLst>
              <a:ext uri="{FF2B5EF4-FFF2-40B4-BE49-F238E27FC236}">
                <a16:creationId xmlns:a16="http://schemas.microsoft.com/office/drawing/2014/main" id="{51A2BE01-B15E-0B0F-53C6-1A168F3B1989}"/>
              </a:ext>
            </a:extLst>
          </p:cNvPr>
          <p:cNvGrpSpPr/>
          <p:nvPr/>
        </p:nvGrpSpPr>
        <p:grpSpPr>
          <a:xfrm>
            <a:off x="4350956" y="2669168"/>
            <a:ext cx="447605" cy="447605"/>
            <a:chOff x="6216367" y="1970156"/>
            <a:chExt cx="361147" cy="361147"/>
          </a:xfrm>
        </p:grpSpPr>
        <p:sp>
          <p:nvSpPr>
            <p:cNvPr id="44" name="Google Shape;600;p33">
              <a:extLst>
                <a:ext uri="{FF2B5EF4-FFF2-40B4-BE49-F238E27FC236}">
                  <a16:creationId xmlns:a16="http://schemas.microsoft.com/office/drawing/2014/main" id="{0748CA9A-E3FF-82B2-CB8F-715B47493C2C}"/>
                </a:ext>
              </a:extLst>
            </p:cNvPr>
            <p:cNvSpPr/>
            <p:nvPr/>
          </p:nvSpPr>
          <p:spPr>
            <a:xfrm>
              <a:off x="6247813" y="2069522"/>
              <a:ext cx="329701" cy="261781"/>
            </a:xfrm>
            <a:custGeom>
              <a:avLst/>
              <a:gdLst/>
              <a:ahLst/>
              <a:cxnLst/>
              <a:rect l="l" t="t" r="r" b="b"/>
              <a:pathLst>
                <a:path w="10359" h="8225" extrusionOk="0">
                  <a:moveTo>
                    <a:pt x="9663" y="0"/>
                  </a:moveTo>
                  <a:cubicBezTo>
                    <a:pt x="9637" y="0"/>
                    <a:pt x="9611" y="7"/>
                    <a:pt x="9585" y="22"/>
                  </a:cubicBezTo>
                  <a:cubicBezTo>
                    <a:pt x="9490" y="69"/>
                    <a:pt x="9466" y="153"/>
                    <a:pt x="9502" y="248"/>
                  </a:cubicBezTo>
                  <a:cubicBezTo>
                    <a:pt x="9847" y="962"/>
                    <a:pt x="10026" y="1736"/>
                    <a:pt x="10026" y="2534"/>
                  </a:cubicBezTo>
                  <a:cubicBezTo>
                    <a:pt x="10026" y="3963"/>
                    <a:pt x="9478" y="5308"/>
                    <a:pt x="8466" y="6320"/>
                  </a:cubicBezTo>
                  <a:cubicBezTo>
                    <a:pt x="7454" y="7332"/>
                    <a:pt x="6108" y="7880"/>
                    <a:pt x="4680" y="7880"/>
                  </a:cubicBezTo>
                  <a:cubicBezTo>
                    <a:pt x="3834" y="7880"/>
                    <a:pt x="3037" y="7689"/>
                    <a:pt x="2287" y="7308"/>
                  </a:cubicBezTo>
                  <a:cubicBezTo>
                    <a:pt x="1667" y="6999"/>
                    <a:pt x="1096" y="6558"/>
                    <a:pt x="632" y="6022"/>
                  </a:cubicBezTo>
                  <a:lnTo>
                    <a:pt x="632" y="6022"/>
                  </a:lnTo>
                  <a:lnTo>
                    <a:pt x="1286" y="6237"/>
                  </a:lnTo>
                  <a:cubicBezTo>
                    <a:pt x="1308" y="6245"/>
                    <a:pt x="1329" y="6249"/>
                    <a:pt x="1350" y="6249"/>
                  </a:cubicBezTo>
                  <a:cubicBezTo>
                    <a:pt x="1417" y="6249"/>
                    <a:pt x="1473" y="6206"/>
                    <a:pt x="1501" y="6141"/>
                  </a:cubicBezTo>
                  <a:cubicBezTo>
                    <a:pt x="1525" y="6046"/>
                    <a:pt x="1489" y="5963"/>
                    <a:pt x="1394" y="5927"/>
                  </a:cubicBezTo>
                  <a:lnTo>
                    <a:pt x="215" y="5546"/>
                  </a:lnTo>
                  <a:cubicBezTo>
                    <a:pt x="197" y="5539"/>
                    <a:pt x="180" y="5536"/>
                    <a:pt x="163" y="5536"/>
                  </a:cubicBezTo>
                  <a:cubicBezTo>
                    <a:pt x="122" y="5536"/>
                    <a:pt x="85" y="5553"/>
                    <a:pt x="60" y="5570"/>
                  </a:cubicBezTo>
                  <a:cubicBezTo>
                    <a:pt x="12" y="5606"/>
                    <a:pt x="1" y="5665"/>
                    <a:pt x="1" y="5725"/>
                  </a:cubicBezTo>
                  <a:lnTo>
                    <a:pt x="191" y="7094"/>
                  </a:lnTo>
                  <a:cubicBezTo>
                    <a:pt x="203" y="7177"/>
                    <a:pt x="274" y="7237"/>
                    <a:pt x="358" y="7237"/>
                  </a:cubicBezTo>
                  <a:lnTo>
                    <a:pt x="382" y="7237"/>
                  </a:lnTo>
                  <a:cubicBezTo>
                    <a:pt x="477" y="7225"/>
                    <a:pt x="536" y="7130"/>
                    <a:pt x="512" y="7046"/>
                  </a:cubicBezTo>
                  <a:lnTo>
                    <a:pt x="417" y="6272"/>
                  </a:lnTo>
                  <a:lnTo>
                    <a:pt x="417" y="6272"/>
                  </a:lnTo>
                  <a:cubicBezTo>
                    <a:pt x="893" y="6820"/>
                    <a:pt x="1489" y="7284"/>
                    <a:pt x="2120" y="7606"/>
                  </a:cubicBezTo>
                  <a:cubicBezTo>
                    <a:pt x="2918" y="8011"/>
                    <a:pt x="3775" y="8225"/>
                    <a:pt x="4680" y="8225"/>
                  </a:cubicBezTo>
                  <a:cubicBezTo>
                    <a:pt x="6204" y="8225"/>
                    <a:pt x="7621" y="7630"/>
                    <a:pt x="8692" y="6558"/>
                  </a:cubicBezTo>
                  <a:cubicBezTo>
                    <a:pt x="9764" y="5487"/>
                    <a:pt x="10359" y="4058"/>
                    <a:pt x="10359" y="2558"/>
                  </a:cubicBezTo>
                  <a:cubicBezTo>
                    <a:pt x="10359" y="1677"/>
                    <a:pt x="10157" y="855"/>
                    <a:pt x="9799" y="93"/>
                  </a:cubicBezTo>
                  <a:cubicBezTo>
                    <a:pt x="9775" y="35"/>
                    <a:pt x="9721" y="0"/>
                    <a:pt x="9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01;p33">
              <a:extLst>
                <a:ext uri="{FF2B5EF4-FFF2-40B4-BE49-F238E27FC236}">
                  <a16:creationId xmlns:a16="http://schemas.microsoft.com/office/drawing/2014/main" id="{CF579DA3-A15C-85E6-EE1C-B4520219B97F}"/>
                </a:ext>
              </a:extLst>
            </p:cNvPr>
            <p:cNvSpPr/>
            <p:nvPr/>
          </p:nvSpPr>
          <p:spPr>
            <a:xfrm>
              <a:off x="6216367" y="1970156"/>
              <a:ext cx="329701" cy="260731"/>
            </a:xfrm>
            <a:custGeom>
              <a:avLst/>
              <a:gdLst/>
              <a:ahLst/>
              <a:cxnLst/>
              <a:rect l="l" t="t" r="r" b="b"/>
              <a:pathLst>
                <a:path w="10359" h="8192" extrusionOk="0">
                  <a:moveTo>
                    <a:pt x="5668" y="0"/>
                  </a:moveTo>
                  <a:cubicBezTo>
                    <a:pt x="4156" y="0"/>
                    <a:pt x="2739" y="596"/>
                    <a:pt x="1667" y="1667"/>
                  </a:cubicBezTo>
                  <a:cubicBezTo>
                    <a:pt x="596" y="2739"/>
                    <a:pt x="0" y="4168"/>
                    <a:pt x="0" y="5680"/>
                  </a:cubicBezTo>
                  <a:cubicBezTo>
                    <a:pt x="0" y="6525"/>
                    <a:pt x="179" y="7346"/>
                    <a:pt x="548" y="8097"/>
                  </a:cubicBezTo>
                  <a:cubicBezTo>
                    <a:pt x="584" y="8156"/>
                    <a:pt x="643" y="8192"/>
                    <a:pt x="703" y="8192"/>
                  </a:cubicBezTo>
                  <a:cubicBezTo>
                    <a:pt x="727" y="8192"/>
                    <a:pt x="750" y="8192"/>
                    <a:pt x="774" y="8180"/>
                  </a:cubicBezTo>
                  <a:cubicBezTo>
                    <a:pt x="858" y="8132"/>
                    <a:pt x="893" y="8037"/>
                    <a:pt x="846" y="7954"/>
                  </a:cubicBezTo>
                  <a:cubicBezTo>
                    <a:pt x="512" y="7239"/>
                    <a:pt x="334" y="6465"/>
                    <a:pt x="334" y="5656"/>
                  </a:cubicBezTo>
                  <a:cubicBezTo>
                    <a:pt x="334" y="4227"/>
                    <a:pt x="881" y="2894"/>
                    <a:pt x="1893" y="1882"/>
                  </a:cubicBezTo>
                  <a:cubicBezTo>
                    <a:pt x="2905" y="869"/>
                    <a:pt x="4239" y="322"/>
                    <a:pt x="5668" y="322"/>
                  </a:cubicBezTo>
                  <a:cubicBezTo>
                    <a:pt x="7239" y="322"/>
                    <a:pt x="8704" y="989"/>
                    <a:pt x="9716" y="2179"/>
                  </a:cubicBezTo>
                  <a:lnTo>
                    <a:pt x="9061" y="1953"/>
                  </a:lnTo>
                  <a:cubicBezTo>
                    <a:pt x="9044" y="1948"/>
                    <a:pt x="9027" y="1946"/>
                    <a:pt x="9010" y="1946"/>
                  </a:cubicBezTo>
                  <a:cubicBezTo>
                    <a:pt x="8942" y="1946"/>
                    <a:pt x="8878" y="1984"/>
                    <a:pt x="8859" y="2060"/>
                  </a:cubicBezTo>
                  <a:cubicBezTo>
                    <a:pt x="8823" y="2143"/>
                    <a:pt x="8870" y="2239"/>
                    <a:pt x="8966" y="2263"/>
                  </a:cubicBezTo>
                  <a:lnTo>
                    <a:pt x="10133" y="2655"/>
                  </a:lnTo>
                  <a:cubicBezTo>
                    <a:pt x="10156" y="2655"/>
                    <a:pt x="10168" y="2667"/>
                    <a:pt x="10192" y="2667"/>
                  </a:cubicBezTo>
                  <a:cubicBezTo>
                    <a:pt x="10240" y="2667"/>
                    <a:pt x="10275" y="2655"/>
                    <a:pt x="10299" y="2620"/>
                  </a:cubicBezTo>
                  <a:cubicBezTo>
                    <a:pt x="10347" y="2596"/>
                    <a:pt x="10359" y="2536"/>
                    <a:pt x="10359" y="2477"/>
                  </a:cubicBezTo>
                  <a:lnTo>
                    <a:pt x="10168" y="1108"/>
                  </a:lnTo>
                  <a:cubicBezTo>
                    <a:pt x="10158" y="1027"/>
                    <a:pt x="10088" y="971"/>
                    <a:pt x="10016" y="971"/>
                  </a:cubicBezTo>
                  <a:cubicBezTo>
                    <a:pt x="10003" y="971"/>
                    <a:pt x="9990" y="973"/>
                    <a:pt x="9978" y="977"/>
                  </a:cubicBezTo>
                  <a:cubicBezTo>
                    <a:pt x="9882" y="989"/>
                    <a:pt x="9823" y="1072"/>
                    <a:pt x="9835" y="1167"/>
                  </a:cubicBezTo>
                  <a:lnTo>
                    <a:pt x="9942" y="1941"/>
                  </a:lnTo>
                  <a:cubicBezTo>
                    <a:pt x="8870" y="703"/>
                    <a:pt x="7323" y="0"/>
                    <a:pt x="5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02;p33">
              <a:extLst>
                <a:ext uri="{FF2B5EF4-FFF2-40B4-BE49-F238E27FC236}">
                  <a16:creationId xmlns:a16="http://schemas.microsoft.com/office/drawing/2014/main" id="{4F8B0199-31F6-A52F-3089-E8777DDAB79E}"/>
                </a:ext>
              </a:extLst>
            </p:cNvPr>
            <p:cNvSpPr/>
            <p:nvPr/>
          </p:nvSpPr>
          <p:spPr>
            <a:xfrm>
              <a:off x="6351252" y="2064875"/>
              <a:ext cx="17855" cy="28072"/>
            </a:xfrm>
            <a:custGeom>
              <a:avLst/>
              <a:gdLst/>
              <a:ahLst/>
              <a:cxnLst/>
              <a:rect l="l" t="t" r="r" b="b"/>
              <a:pathLst>
                <a:path w="561" h="882" extrusionOk="0">
                  <a:moveTo>
                    <a:pt x="358" y="1"/>
                  </a:moveTo>
                  <a:cubicBezTo>
                    <a:pt x="275" y="1"/>
                    <a:pt x="203" y="84"/>
                    <a:pt x="203" y="168"/>
                  </a:cubicBezTo>
                  <a:lnTo>
                    <a:pt x="203" y="477"/>
                  </a:lnTo>
                  <a:lnTo>
                    <a:pt x="84" y="596"/>
                  </a:lnTo>
                  <a:cubicBezTo>
                    <a:pt x="25" y="656"/>
                    <a:pt x="1" y="763"/>
                    <a:pt x="84" y="834"/>
                  </a:cubicBezTo>
                  <a:cubicBezTo>
                    <a:pt x="108" y="870"/>
                    <a:pt x="156" y="882"/>
                    <a:pt x="203" y="882"/>
                  </a:cubicBezTo>
                  <a:cubicBezTo>
                    <a:pt x="239" y="882"/>
                    <a:pt x="287" y="870"/>
                    <a:pt x="322" y="834"/>
                  </a:cubicBezTo>
                  <a:lnTo>
                    <a:pt x="501" y="680"/>
                  </a:lnTo>
                  <a:cubicBezTo>
                    <a:pt x="525" y="644"/>
                    <a:pt x="561" y="596"/>
                    <a:pt x="537" y="560"/>
                  </a:cubicBezTo>
                  <a:lnTo>
                    <a:pt x="525" y="168"/>
                  </a:lnTo>
                  <a:cubicBezTo>
                    <a:pt x="525" y="84"/>
                    <a:pt x="453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03;p33">
              <a:extLst>
                <a:ext uri="{FF2B5EF4-FFF2-40B4-BE49-F238E27FC236}">
                  <a16:creationId xmlns:a16="http://schemas.microsoft.com/office/drawing/2014/main" id="{8671BF88-26AB-D8DA-61D8-F25498BA5C3C}"/>
                </a:ext>
              </a:extLst>
            </p:cNvPr>
            <p:cNvSpPr/>
            <p:nvPr/>
          </p:nvSpPr>
          <p:spPr>
            <a:xfrm>
              <a:off x="6260321" y="2016688"/>
              <a:ext cx="272857" cy="269929"/>
            </a:xfrm>
            <a:custGeom>
              <a:avLst/>
              <a:gdLst/>
              <a:ahLst/>
              <a:cxnLst/>
              <a:rect l="l" t="t" r="r" b="b"/>
              <a:pathLst>
                <a:path w="8573" h="8481" extrusionOk="0">
                  <a:moveTo>
                    <a:pt x="2822" y="3182"/>
                  </a:moveTo>
                  <a:lnTo>
                    <a:pt x="3037" y="3217"/>
                  </a:lnTo>
                  <a:lnTo>
                    <a:pt x="3144" y="3217"/>
                  </a:lnTo>
                  <a:lnTo>
                    <a:pt x="2965" y="3598"/>
                  </a:lnTo>
                  <a:lnTo>
                    <a:pt x="2679" y="3527"/>
                  </a:lnTo>
                  <a:lnTo>
                    <a:pt x="2822" y="3182"/>
                  </a:lnTo>
                  <a:close/>
                  <a:moveTo>
                    <a:pt x="3918" y="3110"/>
                  </a:moveTo>
                  <a:lnTo>
                    <a:pt x="4251" y="3515"/>
                  </a:lnTo>
                  <a:lnTo>
                    <a:pt x="4203" y="3634"/>
                  </a:lnTo>
                  <a:cubicBezTo>
                    <a:pt x="4168" y="3718"/>
                    <a:pt x="4215" y="3813"/>
                    <a:pt x="4310" y="3837"/>
                  </a:cubicBezTo>
                  <a:cubicBezTo>
                    <a:pt x="4322" y="3837"/>
                    <a:pt x="4334" y="3860"/>
                    <a:pt x="4370" y="3860"/>
                  </a:cubicBezTo>
                  <a:cubicBezTo>
                    <a:pt x="4441" y="3860"/>
                    <a:pt x="4501" y="3813"/>
                    <a:pt x="4525" y="3741"/>
                  </a:cubicBezTo>
                  <a:lnTo>
                    <a:pt x="4572" y="3622"/>
                  </a:lnTo>
                  <a:cubicBezTo>
                    <a:pt x="4608" y="3515"/>
                    <a:pt x="4584" y="3408"/>
                    <a:pt x="4513" y="3325"/>
                  </a:cubicBezTo>
                  <a:lnTo>
                    <a:pt x="4430" y="3217"/>
                  </a:lnTo>
                  <a:lnTo>
                    <a:pt x="4727" y="3444"/>
                  </a:lnTo>
                  <a:cubicBezTo>
                    <a:pt x="4749" y="3458"/>
                    <a:pt x="4780" y="3469"/>
                    <a:pt x="4815" y="3469"/>
                  </a:cubicBezTo>
                  <a:cubicBezTo>
                    <a:pt x="4836" y="3469"/>
                    <a:pt x="4859" y="3465"/>
                    <a:pt x="4882" y="3456"/>
                  </a:cubicBezTo>
                  <a:lnTo>
                    <a:pt x="5096" y="3360"/>
                  </a:lnTo>
                  <a:lnTo>
                    <a:pt x="5227" y="3515"/>
                  </a:lnTo>
                  <a:cubicBezTo>
                    <a:pt x="5263" y="3563"/>
                    <a:pt x="5323" y="3575"/>
                    <a:pt x="5358" y="3575"/>
                  </a:cubicBezTo>
                  <a:lnTo>
                    <a:pt x="5775" y="3539"/>
                  </a:lnTo>
                  <a:lnTo>
                    <a:pt x="5799" y="3622"/>
                  </a:lnTo>
                  <a:cubicBezTo>
                    <a:pt x="5811" y="3658"/>
                    <a:pt x="5775" y="3694"/>
                    <a:pt x="5775" y="3706"/>
                  </a:cubicBezTo>
                  <a:cubicBezTo>
                    <a:pt x="5763" y="3718"/>
                    <a:pt x="5739" y="3753"/>
                    <a:pt x="5692" y="3753"/>
                  </a:cubicBezTo>
                  <a:lnTo>
                    <a:pt x="4977" y="3813"/>
                  </a:lnTo>
                  <a:cubicBezTo>
                    <a:pt x="4882" y="3813"/>
                    <a:pt x="4811" y="3872"/>
                    <a:pt x="4751" y="3944"/>
                  </a:cubicBezTo>
                  <a:cubicBezTo>
                    <a:pt x="4727" y="4003"/>
                    <a:pt x="4691" y="4063"/>
                    <a:pt x="4703" y="4122"/>
                  </a:cubicBezTo>
                  <a:lnTo>
                    <a:pt x="4227" y="3956"/>
                  </a:lnTo>
                  <a:cubicBezTo>
                    <a:pt x="4215" y="3956"/>
                    <a:pt x="4215" y="3944"/>
                    <a:pt x="4203" y="3932"/>
                  </a:cubicBezTo>
                  <a:cubicBezTo>
                    <a:pt x="4168" y="3753"/>
                    <a:pt x="4025" y="3610"/>
                    <a:pt x="3846" y="3610"/>
                  </a:cubicBezTo>
                  <a:lnTo>
                    <a:pt x="3834" y="3610"/>
                  </a:lnTo>
                  <a:lnTo>
                    <a:pt x="3322" y="3634"/>
                  </a:lnTo>
                  <a:lnTo>
                    <a:pt x="3477" y="3289"/>
                  </a:lnTo>
                  <a:cubicBezTo>
                    <a:pt x="3489" y="3265"/>
                    <a:pt x="3513" y="3229"/>
                    <a:pt x="3548" y="3229"/>
                  </a:cubicBezTo>
                  <a:lnTo>
                    <a:pt x="3918" y="3110"/>
                  </a:lnTo>
                  <a:close/>
                  <a:moveTo>
                    <a:pt x="7775" y="3646"/>
                  </a:moveTo>
                  <a:cubicBezTo>
                    <a:pt x="7787" y="3646"/>
                    <a:pt x="7835" y="3646"/>
                    <a:pt x="7859" y="3682"/>
                  </a:cubicBezTo>
                  <a:lnTo>
                    <a:pt x="8204" y="4003"/>
                  </a:lnTo>
                  <a:lnTo>
                    <a:pt x="8204" y="4349"/>
                  </a:lnTo>
                  <a:cubicBezTo>
                    <a:pt x="8156" y="5325"/>
                    <a:pt x="7763" y="6254"/>
                    <a:pt x="7061" y="6956"/>
                  </a:cubicBezTo>
                  <a:cubicBezTo>
                    <a:pt x="6954" y="7051"/>
                    <a:pt x="6835" y="7158"/>
                    <a:pt x="6716" y="7254"/>
                  </a:cubicBezTo>
                  <a:cubicBezTo>
                    <a:pt x="6775" y="7158"/>
                    <a:pt x="6835" y="7075"/>
                    <a:pt x="6870" y="6968"/>
                  </a:cubicBezTo>
                  <a:lnTo>
                    <a:pt x="7620" y="5194"/>
                  </a:lnTo>
                  <a:cubicBezTo>
                    <a:pt x="7656" y="5134"/>
                    <a:pt x="7644" y="5075"/>
                    <a:pt x="7609" y="5027"/>
                  </a:cubicBezTo>
                  <a:cubicBezTo>
                    <a:pt x="7585" y="4992"/>
                    <a:pt x="7525" y="4956"/>
                    <a:pt x="7466" y="4956"/>
                  </a:cubicBezTo>
                  <a:lnTo>
                    <a:pt x="7382" y="4956"/>
                  </a:lnTo>
                  <a:lnTo>
                    <a:pt x="7799" y="4134"/>
                  </a:lnTo>
                  <a:cubicBezTo>
                    <a:pt x="7882" y="4003"/>
                    <a:pt x="7835" y="3837"/>
                    <a:pt x="7704" y="3753"/>
                  </a:cubicBezTo>
                  <a:lnTo>
                    <a:pt x="7668" y="3718"/>
                  </a:lnTo>
                  <a:lnTo>
                    <a:pt x="7680" y="3706"/>
                  </a:lnTo>
                  <a:cubicBezTo>
                    <a:pt x="7716" y="3658"/>
                    <a:pt x="7739" y="3658"/>
                    <a:pt x="7775" y="3646"/>
                  </a:cubicBezTo>
                  <a:close/>
                  <a:moveTo>
                    <a:pt x="4257" y="0"/>
                  </a:moveTo>
                  <a:cubicBezTo>
                    <a:pt x="4208" y="0"/>
                    <a:pt x="4158" y="1"/>
                    <a:pt x="4108" y="3"/>
                  </a:cubicBezTo>
                  <a:cubicBezTo>
                    <a:pt x="3037" y="50"/>
                    <a:pt x="2048" y="491"/>
                    <a:pt x="1286" y="1241"/>
                  </a:cubicBezTo>
                  <a:cubicBezTo>
                    <a:pt x="524" y="1991"/>
                    <a:pt x="96" y="2991"/>
                    <a:pt x="48" y="4063"/>
                  </a:cubicBezTo>
                  <a:cubicBezTo>
                    <a:pt x="0" y="5122"/>
                    <a:pt x="358" y="6158"/>
                    <a:pt x="1048" y="6968"/>
                  </a:cubicBezTo>
                  <a:cubicBezTo>
                    <a:pt x="1072" y="7016"/>
                    <a:pt x="1120" y="7027"/>
                    <a:pt x="1179" y="7027"/>
                  </a:cubicBezTo>
                  <a:cubicBezTo>
                    <a:pt x="1227" y="7027"/>
                    <a:pt x="1251" y="7016"/>
                    <a:pt x="1286" y="6980"/>
                  </a:cubicBezTo>
                  <a:cubicBezTo>
                    <a:pt x="1358" y="6920"/>
                    <a:pt x="1358" y="6813"/>
                    <a:pt x="1298" y="6742"/>
                  </a:cubicBezTo>
                  <a:cubicBezTo>
                    <a:pt x="679" y="6004"/>
                    <a:pt x="346" y="5051"/>
                    <a:pt x="393" y="4063"/>
                  </a:cubicBezTo>
                  <a:cubicBezTo>
                    <a:pt x="441" y="3087"/>
                    <a:pt x="834" y="2158"/>
                    <a:pt x="1536" y="1455"/>
                  </a:cubicBezTo>
                  <a:cubicBezTo>
                    <a:pt x="2239" y="765"/>
                    <a:pt x="3156" y="360"/>
                    <a:pt x="4144" y="312"/>
                  </a:cubicBezTo>
                  <a:cubicBezTo>
                    <a:pt x="4200" y="309"/>
                    <a:pt x="4256" y="308"/>
                    <a:pt x="4312" y="308"/>
                  </a:cubicBezTo>
                  <a:cubicBezTo>
                    <a:pt x="4478" y="308"/>
                    <a:pt x="4641" y="321"/>
                    <a:pt x="4811" y="348"/>
                  </a:cubicBezTo>
                  <a:lnTo>
                    <a:pt x="5037" y="622"/>
                  </a:lnTo>
                  <a:lnTo>
                    <a:pt x="4942" y="848"/>
                  </a:lnTo>
                  <a:lnTo>
                    <a:pt x="4811" y="610"/>
                  </a:lnTo>
                  <a:cubicBezTo>
                    <a:pt x="4787" y="550"/>
                    <a:pt x="4727" y="527"/>
                    <a:pt x="4668" y="527"/>
                  </a:cubicBezTo>
                  <a:lnTo>
                    <a:pt x="4132" y="527"/>
                  </a:lnTo>
                  <a:cubicBezTo>
                    <a:pt x="4072" y="527"/>
                    <a:pt x="4013" y="550"/>
                    <a:pt x="3977" y="610"/>
                  </a:cubicBezTo>
                  <a:lnTo>
                    <a:pt x="3608" y="1324"/>
                  </a:lnTo>
                  <a:cubicBezTo>
                    <a:pt x="3560" y="1432"/>
                    <a:pt x="3560" y="1539"/>
                    <a:pt x="3608" y="1634"/>
                  </a:cubicBezTo>
                  <a:cubicBezTo>
                    <a:pt x="3668" y="1729"/>
                    <a:pt x="3751" y="1801"/>
                    <a:pt x="3858" y="1801"/>
                  </a:cubicBezTo>
                  <a:lnTo>
                    <a:pt x="4156" y="1836"/>
                  </a:lnTo>
                  <a:cubicBezTo>
                    <a:pt x="4215" y="1836"/>
                    <a:pt x="4275" y="1813"/>
                    <a:pt x="4310" y="1753"/>
                  </a:cubicBezTo>
                  <a:lnTo>
                    <a:pt x="4430" y="1598"/>
                  </a:lnTo>
                  <a:lnTo>
                    <a:pt x="4489" y="1670"/>
                  </a:lnTo>
                  <a:lnTo>
                    <a:pt x="4441" y="1955"/>
                  </a:lnTo>
                  <a:lnTo>
                    <a:pt x="3929" y="2027"/>
                  </a:lnTo>
                  <a:cubicBezTo>
                    <a:pt x="3906" y="2027"/>
                    <a:pt x="3894" y="2039"/>
                    <a:pt x="3858" y="2051"/>
                  </a:cubicBezTo>
                  <a:lnTo>
                    <a:pt x="3203" y="2527"/>
                  </a:lnTo>
                  <a:cubicBezTo>
                    <a:pt x="3179" y="2563"/>
                    <a:pt x="3144" y="2586"/>
                    <a:pt x="3144" y="2622"/>
                  </a:cubicBezTo>
                  <a:lnTo>
                    <a:pt x="3072" y="2920"/>
                  </a:lnTo>
                  <a:lnTo>
                    <a:pt x="2846" y="2884"/>
                  </a:lnTo>
                  <a:cubicBezTo>
                    <a:pt x="2836" y="2883"/>
                    <a:pt x="2826" y="2883"/>
                    <a:pt x="2816" y="2883"/>
                  </a:cubicBezTo>
                  <a:cubicBezTo>
                    <a:pt x="2686" y="2883"/>
                    <a:pt x="2580" y="2954"/>
                    <a:pt x="2525" y="3087"/>
                  </a:cubicBezTo>
                  <a:lnTo>
                    <a:pt x="2382" y="3456"/>
                  </a:lnTo>
                  <a:cubicBezTo>
                    <a:pt x="2358" y="3527"/>
                    <a:pt x="2358" y="3622"/>
                    <a:pt x="2405" y="3694"/>
                  </a:cubicBezTo>
                  <a:cubicBezTo>
                    <a:pt x="2441" y="3765"/>
                    <a:pt x="2501" y="3825"/>
                    <a:pt x="2596" y="3860"/>
                  </a:cubicBezTo>
                  <a:cubicBezTo>
                    <a:pt x="2441" y="3932"/>
                    <a:pt x="2322" y="4075"/>
                    <a:pt x="2322" y="4241"/>
                  </a:cubicBezTo>
                  <a:lnTo>
                    <a:pt x="2322" y="4313"/>
                  </a:lnTo>
                  <a:lnTo>
                    <a:pt x="1870" y="4849"/>
                  </a:lnTo>
                  <a:cubicBezTo>
                    <a:pt x="1786" y="4932"/>
                    <a:pt x="1763" y="5051"/>
                    <a:pt x="1763" y="5146"/>
                  </a:cubicBezTo>
                  <a:lnTo>
                    <a:pt x="1763" y="5777"/>
                  </a:lnTo>
                  <a:cubicBezTo>
                    <a:pt x="1763" y="5944"/>
                    <a:pt x="1822" y="6087"/>
                    <a:pt x="1941" y="6194"/>
                  </a:cubicBezTo>
                  <a:lnTo>
                    <a:pt x="2382" y="6623"/>
                  </a:lnTo>
                  <a:cubicBezTo>
                    <a:pt x="2489" y="6718"/>
                    <a:pt x="2608" y="6777"/>
                    <a:pt x="2739" y="6789"/>
                  </a:cubicBezTo>
                  <a:lnTo>
                    <a:pt x="4049" y="6908"/>
                  </a:lnTo>
                  <a:lnTo>
                    <a:pt x="4049" y="6956"/>
                  </a:lnTo>
                  <a:cubicBezTo>
                    <a:pt x="4037" y="7111"/>
                    <a:pt x="4096" y="7266"/>
                    <a:pt x="4227" y="7373"/>
                  </a:cubicBezTo>
                  <a:lnTo>
                    <a:pt x="4465" y="7551"/>
                  </a:lnTo>
                  <a:lnTo>
                    <a:pt x="4453" y="7587"/>
                  </a:lnTo>
                  <a:cubicBezTo>
                    <a:pt x="4394" y="7766"/>
                    <a:pt x="4453" y="7944"/>
                    <a:pt x="4584" y="8063"/>
                  </a:cubicBezTo>
                  <a:lnTo>
                    <a:pt x="4668" y="8123"/>
                  </a:lnTo>
                  <a:cubicBezTo>
                    <a:pt x="4608" y="8123"/>
                    <a:pt x="4561" y="8147"/>
                    <a:pt x="4501" y="8147"/>
                  </a:cubicBezTo>
                  <a:cubicBezTo>
                    <a:pt x="4451" y="8148"/>
                    <a:pt x="4402" y="8149"/>
                    <a:pt x="4353" y="8149"/>
                  </a:cubicBezTo>
                  <a:cubicBezTo>
                    <a:pt x="3418" y="8149"/>
                    <a:pt x="2523" y="7829"/>
                    <a:pt x="1822" y="7230"/>
                  </a:cubicBezTo>
                  <a:cubicBezTo>
                    <a:pt x="1793" y="7206"/>
                    <a:pt x="1759" y="7195"/>
                    <a:pt x="1724" y="7195"/>
                  </a:cubicBezTo>
                  <a:cubicBezTo>
                    <a:pt x="1672" y="7195"/>
                    <a:pt x="1619" y="7218"/>
                    <a:pt x="1584" y="7254"/>
                  </a:cubicBezTo>
                  <a:cubicBezTo>
                    <a:pt x="1524" y="7325"/>
                    <a:pt x="1536" y="7432"/>
                    <a:pt x="1596" y="7492"/>
                  </a:cubicBezTo>
                  <a:cubicBezTo>
                    <a:pt x="2358" y="8123"/>
                    <a:pt x="3322" y="8480"/>
                    <a:pt x="4322" y="8480"/>
                  </a:cubicBezTo>
                  <a:lnTo>
                    <a:pt x="4501" y="8480"/>
                  </a:lnTo>
                  <a:cubicBezTo>
                    <a:pt x="5573" y="8444"/>
                    <a:pt x="6573" y="7992"/>
                    <a:pt x="7323" y="7254"/>
                  </a:cubicBezTo>
                  <a:cubicBezTo>
                    <a:pt x="8085" y="6492"/>
                    <a:pt x="8513" y="5492"/>
                    <a:pt x="8561" y="4420"/>
                  </a:cubicBezTo>
                  <a:cubicBezTo>
                    <a:pt x="8573" y="3289"/>
                    <a:pt x="8216" y="2265"/>
                    <a:pt x="7537" y="1455"/>
                  </a:cubicBezTo>
                  <a:cubicBezTo>
                    <a:pt x="7506" y="1418"/>
                    <a:pt x="7462" y="1400"/>
                    <a:pt x="7417" y="1400"/>
                  </a:cubicBezTo>
                  <a:cubicBezTo>
                    <a:pt x="7375" y="1400"/>
                    <a:pt x="7333" y="1415"/>
                    <a:pt x="7299" y="1443"/>
                  </a:cubicBezTo>
                  <a:cubicBezTo>
                    <a:pt x="7228" y="1503"/>
                    <a:pt x="7228" y="1610"/>
                    <a:pt x="7287" y="1682"/>
                  </a:cubicBezTo>
                  <a:cubicBezTo>
                    <a:pt x="7728" y="2217"/>
                    <a:pt x="8025" y="2860"/>
                    <a:pt x="8144" y="3539"/>
                  </a:cubicBezTo>
                  <a:lnTo>
                    <a:pt x="8097" y="3503"/>
                  </a:lnTo>
                  <a:cubicBezTo>
                    <a:pt x="8018" y="3424"/>
                    <a:pt x="7923" y="3378"/>
                    <a:pt x="7804" y="3378"/>
                  </a:cubicBezTo>
                  <a:cubicBezTo>
                    <a:pt x="7780" y="3378"/>
                    <a:pt x="7754" y="3380"/>
                    <a:pt x="7728" y="3384"/>
                  </a:cubicBezTo>
                  <a:cubicBezTo>
                    <a:pt x="7597" y="3396"/>
                    <a:pt x="7478" y="3468"/>
                    <a:pt x="7406" y="3587"/>
                  </a:cubicBezTo>
                  <a:lnTo>
                    <a:pt x="7370" y="3634"/>
                  </a:lnTo>
                  <a:cubicBezTo>
                    <a:pt x="7299" y="3634"/>
                    <a:pt x="7228" y="3658"/>
                    <a:pt x="7168" y="3718"/>
                  </a:cubicBezTo>
                  <a:lnTo>
                    <a:pt x="6942" y="3468"/>
                  </a:lnTo>
                  <a:cubicBezTo>
                    <a:pt x="6911" y="3430"/>
                    <a:pt x="6866" y="3412"/>
                    <a:pt x="6821" y="3412"/>
                  </a:cubicBezTo>
                  <a:cubicBezTo>
                    <a:pt x="6780" y="3412"/>
                    <a:pt x="6738" y="3427"/>
                    <a:pt x="6704" y="3456"/>
                  </a:cubicBezTo>
                  <a:cubicBezTo>
                    <a:pt x="6632" y="3515"/>
                    <a:pt x="6632" y="3622"/>
                    <a:pt x="6692" y="3694"/>
                  </a:cubicBezTo>
                  <a:lnTo>
                    <a:pt x="7013" y="4099"/>
                  </a:lnTo>
                  <a:cubicBezTo>
                    <a:pt x="7049" y="4122"/>
                    <a:pt x="7085" y="4146"/>
                    <a:pt x="7132" y="4146"/>
                  </a:cubicBezTo>
                  <a:cubicBezTo>
                    <a:pt x="7180" y="4146"/>
                    <a:pt x="7228" y="4134"/>
                    <a:pt x="7251" y="4110"/>
                  </a:cubicBezTo>
                  <a:lnTo>
                    <a:pt x="7358" y="4003"/>
                  </a:lnTo>
                  <a:lnTo>
                    <a:pt x="7489" y="4099"/>
                  </a:lnTo>
                  <a:lnTo>
                    <a:pt x="7001" y="5075"/>
                  </a:lnTo>
                  <a:lnTo>
                    <a:pt x="6966" y="5075"/>
                  </a:lnTo>
                  <a:cubicBezTo>
                    <a:pt x="6930" y="5075"/>
                    <a:pt x="6894" y="5063"/>
                    <a:pt x="6870" y="5027"/>
                  </a:cubicBezTo>
                  <a:lnTo>
                    <a:pt x="6215" y="4230"/>
                  </a:lnTo>
                  <a:cubicBezTo>
                    <a:pt x="6181" y="4188"/>
                    <a:pt x="6129" y="4170"/>
                    <a:pt x="6079" y="4170"/>
                  </a:cubicBezTo>
                  <a:cubicBezTo>
                    <a:pt x="6043" y="4170"/>
                    <a:pt x="6007" y="4179"/>
                    <a:pt x="5977" y="4194"/>
                  </a:cubicBezTo>
                  <a:cubicBezTo>
                    <a:pt x="5894" y="4253"/>
                    <a:pt x="5894" y="4360"/>
                    <a:pt x="5942" y="4432"/>
                  </a:cubicBezTo>
                  <a:lnTo>
                    <a:pt x="6596" y="5242"/>
                  </a:lnTo>
                  <a:cubicBezTo>
                    <a:pt x="6684" y="5351"/>
                    <a:pt x="6811" y="5410"/>
                    <a:pt x="6932" y="5410"/>
                  </a:cubicBezTo>
                  <a:cubicBezTo>
                    <a:pt x="6944" y="5410"/>
                    <a:pt x="6955" y="5409"/>
                    <a:pt x="6966" y="5408"/>
                  </a:cubicBezTo>
                  <a:lnTo>
                    <a:pt x="7180" y="5384"/>
                  </a:lnTo>
                  <a:lnTo>
                    <a:pt x="6525" y="6908"/>
                  </a:lnTo>
                  <a:cubicBezTo>
                    <a:pt x="6477" y="7016"/>
                    <a:pt x="6418" y="7111"/>
                    <a:pt x="6335" y="7206"/>
                  </a:cubicBezTo>
                  <a:lnTo>
                    <a:pt x="5811" y="7825"/>
                  </a:lnTo>
                  <a:cubicBezTo>
                    <a:pt x="5537" y="7944"/>
                    <a:pt x="5275" y="8028"/>
                    <a:pt x="4989" y="8087"/>
                  </a:cubicBezTo>
                  <a:lnTo>
                    <a:pt x="4703" y="7825"/>
                  </a:lnTo>
                  <a:cubicBezTo>
                    <a:pt x="4680" y="7801"/>
                    <a:pt x="4668" y="7754"/>
                    <a:pt x="4680" y="7706"/>
                  </a:cubicBezTo>
                  <a:lnTo>
                    <a:pt x="4727" y="7551"/>
                  </a:lnTo>
                  <a:cubicBezTo>
                    <a:pt x="4739" y="7468"/>
                    <a:pt x="4727" y="7408"/>
                    <a:pt x="4668" y="7373"/>
                  </a:cubicBezTo>
                  <a:lnTo>
                    <a:pt x="4334" y="7123"/>
                  </a:lnTo>
                  <a:cubicBezTo>
                    <a:pt x="4310" y="7099"/>
                    <a:pt x="4287" y="7075"/>
                    <a:pt x="4287" y="7027"/>
                  </a:cubicBezTo>
                  <a:lnTo>
                    <a:pt x="4322" y="6813"/>
                  </a:lnTo>
                  <a:cubicBezTo>
                    <a:pt x="4322" y="6777"/>
                    <a:pt x="4322" y="6730"/>
                    <a:pt x="4287" y="6694"/>
                  </a:cubicBezTo>
                  <a:cubicBezTo>
                    <a:pt x="4263" y="6670"/>
                    <a:pt x="4215" y="6635"/>
                    <a:pt x="4168" y="6635"/>
                  </a:cubicBezTo>
                  <a:lnTo>
                    <a:pt x="2679" y="6504"/>
                  </a:lnTo>
                  <a:cubicBezTo>
                    <a:pt x="2620" y="6504"/>
                    <a:pt x="2560" y="6480"/>
                    <a:pt x="2536" y="6432"/>
                  </a:cubicBezTo>
                  <a:lnTo>
                    <a:pt x="2084" y="6004"/>
                  </a:lnTo>
                  <a:cubicBezTo>
                    <a:pt x="2048" y="5956"/>
                    <a:pt x="2013" y="5884"/>
                    <a:pt x="2013" y="5825"/>
                  </a:cubicBezTo>
                  <a:lnTo>
                    <a:pt x="2013" y="5194"/>
                  </a:lnTo>
                  <a:cubicBezTo>
                    <a:pt x="2013" y="5170"/>
                    <a:pt x="2024" y="5134"/>
                    <a:pt x="2048" y="5122"/>
                  </a:cubicBezTo>
                  <a:lnTo>
                    <a:pt x="2548" y="4539"/>
                  </a:lnTo>
                  <a:cubicBezTo>
                    <a:pt x="2584" y="4515"/>
                    <a:pt x="2596" y="4480"/>
                    <a:pt x="2596" y="4432"/>
                  </a:cubicBezTo>
                  <a:lnTo>
                    <a:pt x="2596" y="4301"/>
                  </a:lnTo>
                  <a:cubicBezTo>
                    <a:pt x="2596" y="4253"/>
                    <a:pt x="2620" y="4218"/>
                    <a:pt x="2667" y="4194"/>
                  </a:cubicBezTo>
                  <a:lnTo>
                    <a:pt x="3072" y="4015"/>
                  </a:lnTo>
                  <a:lnTo>
                    <a:pt x="3810" y="4003"/>
                  </a:lnTo>
                  <a:cubicBezTo>
                    <a:pt x="3834" y="4003"/>
                    <a:pt x="3846" y="4015"/>
                    <a:pt x="3846" y="4039"/>
                  </a:cubicBezTo>
                  <a:cubicBezTo>
                    <a:pt x="3858" y="4170"/>
                    <a:pt x="3965" y="4289"/>
                    <a:pt x="4096" y="4313"/>
                  </a:cubicBezTo>
                  <a:lnTo>
                    <a:pt x="4632" y="4491"/>
                  </a:lnTo>
                  <a:cubicBezTo>
                    <a:pt x="4668" y="4503"/>
                    <a:pt x="4705" y="4510"/>
                    <a:pt x="4741" y="4510"/>
                  </a:cubicBezTo>
                  <a:cubicBezTo>
                    <a:pt x="4813" y="4510"/>
                    <a:pt x="4882" y="4484"/>
                    <a:pt x="4930" y="4420"/>
                  </a:cubicBezTo>
                  <a:cubicBezTo>
                    <a:pt x="5001" y="4360"/>
                    <a:pt x="5037" y="4253"/>
                    <a:pt x="5025" y="4170"/>
                  </a:cubicBezTo>
                  <a:lnTo>
                    <a:pt x="5692" y="4110"/>
                  </a:lnTo>
                  <a:cubicBezTo>
                    <a:pt x="5823" y="4099"/>
                    <a:pt x="5930" y="4039"/>
                    <a:pt x="6013" y="3932"/>
                  </a:cubicBezTo>
                  <a:cubicBezTo>
                    <a:pt x="6096" y="3825"/>
                    <a:pt x="6120" y="3694"/>
                    <a:pt x="6096" y="3575"/>
                  </a:cubicBezTo>
                  <a:lnTo>
                    <a:pt x="6073" y="3479"/>
                  </a:lnTo>
                  <a:cubicBezTo>
                    <a:pt x="6050" y="3344"/>
                    <a:pt x="5931" y="3240"/>
                    <a:pt x="5776" y="3240"/>
                  </a:cubicBezTo>
                  <a:cubicBezTo>
                    <a:pt x="5768" y="3240"/>
                    <a:pt x="5760" y="3241"/>
                    <a:pt x="5751" y="3241"/>
                  </a:cubicBezTo>
                  <a:lnTo>
                    <a:pt x="5406" y="3277"/>
                  </a:lnTo>
                  <a:lnTo>
                    <a:pt x="5346" y="3217"/>
                  </a:lnTo>
                  <a:lnTo>
                    <a:pt x="5811" y="2753"/>
                  </a:lnTo>
                  <a:cubicBezTo>
                    <a:pt x="5870" y="2694"/>
                    <a:pt x="5870" y="2586"/>
                    <a:pt x="5811" y="2515"/>
                  </a:cubicBezTo>
                  <a:cubicBezTo>
                    <a:pt x="5781" y="2485"/>
                    <a:pt x="5739" y="2470"/>
                    <a:pt x="5696" y="2470"/>
                  </a:cubicBezTo>
                  <a:cubicBezTo>
                    <a:pt x="5653" y="2470"/>
                    <a:pt x="5608" y="2485"/>
                    <a:pt x="5573" y="2515"/>
                  </a:cubicBezTo>
                  <a:lnTo>
                    <a:pt x="5001" y="3063"/>
                  </a:lnTo>
                  <a:lnTo>
                    <a:pt x="4811" y="3146"/>
                  </a:lnTo>
                  <a:lnTo>
                    <a:pt x="4287" y="2741"/>
                  </a:lnTo>
                  <a:cubicBezTo>
                    <a:pt x="4260" y="2714"/>
                    <a:pt x="4220" y="2701"/>
                    <a:pt x="4181" y="2701"/>
                  </a:cubicBezTo>
                  <a:cubicBezTo>
                    <a:pt x="4168" y="2701"/>
                    <a:pt x="4156" y="2703"/>
                    <a:pt x="4144" y="2706"/>
                  </a:cubicBezTo>
                  <a:lnTo>
                    <a:pt x="3418" y="2944"/>
                  </a:lnTo>
                  <a:cubicBezTo>
                    <a:pt x="3394" y="2944"/>
                    <a:pt x="3370" y="2967"/>
                    <a:pt x="3358" y="2979"/>
                  </a:cubicBezTo>
                  <a:lnTo>
                    <a:pt x="3394" y="2753"/>
                  </a:lnTo>
                  <a:lnTo>
                    <a:pt x="3977" y="2336"/>
                  </a:lnTo>
                  <a:lnTo>
                    <a:pt x="4572" y="2253"/>
                  </a:lnTo>
                  <a:cubicBezTo>
                    <a:pt x="4644" y="2229"/>
                    <a:pt x="4703" y="2170"/>
                    <a:pt x="4703" y="2110"/>
                  </a:cubicBezTo>
                  <a:lnTo>
                    <a:pt x="4787" y="1634"/>
                  </a:lnTo>
                  <a:cubicBezTo>
                    <a:pt x="4787" y="1598"/>
                    <a:pt x="4787" y="1551"/>
                    <a:pt x="4751" y="1515"/>
                  </a:cubicBezTo>
                  <a:lnTo>
                    <a:pt x="4513" y="1205"/>
                  </a:lnTo>
                  <a:cubicBezTo>
                    <a:pt x="4489" y="1158"/>
                    <a:pt x="4430" y="1146"/>
                    <a:pt x="4382" y="1146"/>
                  </a:cubicBezTo>
                  <a:cubicBezTo>
                    <a:pt x="4322" y="1146"/>
                    <a:pt x="4275" y="1182"/>
                    <a:pt x="4251" y="1217"/>
                  </a:cubicBezTo>
                  <a:lnTo>
                    <a:pt x="4072" y="1491"/>
                  </a:lnTo>
                  <a:lnTo>
                    <a:pt x="3870" y="1479"/>
                  </a:lnTo>
                  <a:lnTo>
                    <a:pt x="4203" y="860"/>
                  </a:lnTo>
                  <a:lnTo>
                    <a:pt x="4525" y="860"/>
                  </a:lnTo>
                  <a:lnTo>
                    <a:pt x="4787" y="1324"/>
                  </a:lnTo>
                  <a:cubicBezTo>
                    <a:pt x="4811" y="1384"/>
                    <a:pt x="4870" y="1420"/>
                    <a:pt x="4930" y="1420"/>
                  </a:cubicBezTo>
                  <a:cubicBezTo>
                    <a:pt x="4989" y="1420"/>
                    <a:pt x="5049" y="1372"/>
                    <a:pt x="5084" y="1312"/>
                  </a:cubicBezTo>
                  <a:lnTo>
                    <a:pt x="5323" y="765"/>
                  </a:lnTo>
                  <a:cubicBezTo>
                    <a:pt x="5358" y="658"/>
                    <a:pt x="5346" y="550"/>
                    <a:pt x="5287" y="467"/>
                  </a:cubicBezTo>
                  <a:lnTo>
                    <a:pt x="5287" y="467"/>
                  </a:lnTo>
                  <a:cubicBezTo>
                    <a:pt x="5834" y="610"/>
                    <a:pt x="6346" y="884"/>
                    <a:pt x="6787" y="1253"/>
                  </a:cubicBezTo>
                  <a:cubicBezTo>
                    <a:pt x="6825" y="1280"/>
                    <a:pt x="6864" y="1292"/>
                    <a:pt x="6903" y="1292"/>
                  </a:cubicBezTo>
                  <a:cubicBezTo>
                    <a:pt x="6949" y="1292"/>
                    <a:pt x="6992" y="1274"/>
                    <a:pt x="7025" y="1241"/>
                  </a:cubicBezTo>
                  <a:cubicBezTo>
                    <a:pt x="7085" y="1158"/>
                    <a:pt x="7073" y="1062"/>
                    <a:pt x="7013" y="1003"/>
                  </a:cubicBezTo>
                  <a:cubicBezTo>
                    <a:pt x="6253" y="345"/>
                    <a:pt x="5266" y="0"/>
                    <a:pt x="4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EC3B010-FC6C-4FC1-377C-352E9F8D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CB9193C5-AE34-74EA-6A72-E7F22D854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9F9A7083-F3E0-8B2E-4B5B-8088FD06DDFF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latin typeface="Didact Gothic" panose="00000500000000000000" pitchFamily="2" charset="0"/>
                  </a:rPr>
                  <a:t>Consider a grayscale image 𝐼(𝑥,𝑦) with gray levels 0, 1 ,…, 𝐿 − 1.</a:t>
                </a:r>
              </a:p>
              <a:p>
                <a:pPr marL="0" indent="0">
                  <a:buNone/>
                </a:pPr>
                <a:endParaRPr lang="en-US" sz="1600" b="1" dirty="0">
                  <a:latin typeface="Didact Gothic" panose="00000500000000000000" pitchFamily="2" charset="0"/>
                </a:endParaRPr>
              </a:p>
              <a:p>
                <a:pPr marL="0" indent="0">
                  <a:buNone/>
                </a:pPr>
                <a:r>
                  <a:rPr lang="en-US" sz="1600" b="1" dirty="0"/>
                  <a:t>Step 1: Quantize gray levels</a:t>
                </a:r>
                <a:br>
                  <a:rPr lang="en-US" sz="1600" b="1" dirty="0"/>
                </a:br>
                <a:endParaRPr lang="en-US" sz="1600" b="1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For an 8-bit image (0–255), we might reduce it to, say,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levels to keep the matrix size manageable.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After quantization, every pixel has value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600" dirty="0"/>
                  <a:t>.</a:t>
                </a: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Quantization formula: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1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new</m:t>
                    </m:r>
                    <m:r>
                      <m:rPr>
                        <m:nor/>
                      </m:rPr>
                      <a:rPr lang="en-US" sz="1600" i="1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_</m:t>
                    </m:r>
                    <m:r>
                      <m:rPr>
                        <m:nor/>
                      </m:rPr>
                      <a:rPr lang="en-US" sz="1600" i="1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pixel</m:t>
                    </m:r>
                    <m:r>
                      <m:rPr>
                        <m:nor/>
                      </m:rPr>
                      <a:rPr lang="en-US" sz="1600" b="0" i="1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i="1">
                        <a:latin typeface="Didact Gothic" panose="00000500000000000000" pitchFamily="2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1" smtClean="0">
                        <a:latin typeface="Didact Gothic" panose="00000500000000000000" pitchFamily="2" charset="0"/>
                      </a:rPr>
                      <m:t> 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i="1" smtClean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old</m:t>
                        </m:r>
                        <m:r>
                          <m:rPr>
                            <m:nor/>
                          </m:rPr>
                          <a:rPr lang="en-US" sz="1600" i="1" smtClean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1600" i="1" smtClean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pixel</m:t>
                        </m:r>
                      </m:num>
                      <m:den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𝐶𝑢𝑟𝑟𝑒𝑛𝑡</m:t>
                        </m:r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𝑟𝑎𝑛𝑔𝑒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÷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𝑟𝑎𝑛𝑔𝑒</m:t>
                        </m:r>
                      </m:den>
                    </m:f>
                  </m:oMath>
                </a14:m>
                <a:endParaRPr lang="en" b="1" i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9F9A7083-F3E0-8B2E-4B5B-8088FD06DDF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 r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9FE956-C795-CD99-AF02-9483B096F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81" y="4007642"/>
            <a:ext cx="2470623" cy="1135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851D70-9D80-7D02-8EA2-963F37651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19702"/>
            <a:ext cx="1918398" cy="1256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6ACB2-59B0-48F8-BEFA-498934377E44}"/>
              </a:ext>
            </a:extLst>
          </p:cNvPr>
          <p:cNvSpPr txBox="1"/>
          <p:nvPr/>
        </p:nvSpPr>
        <p:spPr>
          <a:xfrm>
            <a:off x="6746650" y="4354164"/>
            <a:ext cx="19183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Didact Gothic" panose="00000500000000000000" pitchFamily="2" charset="0"/>
              </a:rPr>
              <a:t>L = 8 bit to L = 4 bit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9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A76329ED-F4F5-28A1-9152-487C370F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2075BB2F-D97D-1083-7FB9-F43B48130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481B6AB2-901C-A9F0-CCD9-CC0F408C70E9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Choose offset (distance + direction)</a:t>
                </a:r>
                <a:br>
                  <a:rPr lang="en-US" sz="1600" b="1" dirty="0"/>
                </a:br>
                <a:endParaRPr lang="en-US" sz="1600" b="1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Choose a distance 𝑑 (e.g., 1 pixel, 2 pixels).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Choose a direction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:</a:t>
                </a:r>
              </a:p>
            </p:txBody>
          </p:sp>
        </mc:Choice>
        <mc:Fallback xmlns="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481B6AB2-901C-A9F0-CCD9-CC0F408C70E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2D49D7A-1A08-F650-D4A5-A018DDE3F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618" y="2858076"/>
            <a:ext cx="3311598" cy="217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8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3AAEE1CA-9822-364D-7112-9B954C56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799EE293-2EF8-E589-B030-A6979B3CA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86A179F6-ECB5-8AA5-E05B-3E7E797BC9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Step 3: Build the GLCM 𝑃(𝑖,𝑗)</a:t>
            </a:r>
            <a:br>
              <a:rPr lang="en-US" sz="1600" b="1" dirty="0"/>
            </a:br>
            <a:endParaRPr 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34D2F2-8E41-26A9-247A-71A6336A9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5"/>
          <a:stretch>
            <a:fillRect/>
          </a:stretch>
        </p:blipFill>
        <p:spPr>
          <a:xfrm>
            <a:off x="1853159" y="2001880"/>
            <a:ext cx="5437681" cy="30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64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84614E9-643C-65F8-7574-7611AEC0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826E358E-CA25-DBB5-C06E-8CA4697D5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DCF4F320-3279-03CC-AE74-E9A6F0F23D9B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4: Symmetrization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Sometimes we count both directions: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If we also count pairs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reverse direction, we might define a symmetric GLCM: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600" dirty="0"/>
              </a:p>
              <a:p>
                <a:pPr marL="1524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𝑃𝑠𝑦𝑚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l-PL" sz="1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Didact Gothic" panose="00000500000000000000" pitchFamily="2" charset="0"/>
                </a:endParaRP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Step 5: Normalize to get probabilities</a:t>
                </a:r>
                <a:br>
                  <a:rPr lang="en-US" sz="1600" b="1" dirty="0"/>
                </a:br>
                <a:endParaRPr lang="en-US" sz="1600" b="1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dirty="0">
                    <a:latin typeface="Didact Gothic" panose="00000500000000000000" pitchFamily="2" charset="0"/>
                  </a:rPr>
                  <a:t>To derive features, we often normalize:</a:t>
                </a:r>
              </a:p>
              <a:p>
                <a:pPr marL="1524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,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d>
                            <m:dPr>
                              <m:sepChr m:val=",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1600" dirty="0">
                  <a:latin typeface="Didact Gothic" panose="00000500000000000000" pitchFamily="2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dirty="0">
                    <a:latin typeface="Didact Gothic" panose="00000500000000000000" pitchFamily="2" charset="0"/>
                  </a:rPr>
                  <a:t>so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1600" dirty="0">
                    <a:latin typeface="Didact Gothic" panose="00000500000000000000" pitchFamily="2" charset="0"/>
                  </a:rPr>
                  <a:t>.</a:t>
                </a:r>
              </a:p>
              <a:p>
                <a:pPr marL="0" indent="0">
                  <a:buNone/>
                </a:pPr>
                <a:br>
                  <a:rPr lang="en-US" sz="1600" b="1" dirty="0"/>
                </a:br>
                <a:endParaRPr lang="en-US" sz="1600" b="1" dirty="0"/>
              </a:p>
            </p:txBody>
          </p:sp>
        </mc:Choice>
        <mc:Fallback xmlns="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DCF4F320-3279-03CC-AE74-E9A6F0F23D9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 b="-2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53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C041AE7F-9DC7-B96A-FD24-96619F6A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200665D1-E0A2-AF5C-6EC7-0B21ADD41F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GLCM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F7E41C1D-ECC2-8038-F804-AE89C47F1BEC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112200"/>
                <a:ext cx="7704000" cy="352339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6: Derive texture features</a:t>
                </a:r>
                <a:br>
                  <a:rPr lang="en-US" sz="1600" b="1" dirty="0"/>
                </a:b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dirty="0"/>
                  <a:t>From the normalized GLCM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/>
                  <a:t> classic features include:</a:t>
                </a:r>
                <a:br>
                  <a:rPr lang="en-US" sz="1600" dirty="0"/>
                </a:br>
                <a:endParaRPr lang="en-US" sz="16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b="1" dirty="0"/>
                  <a:t>Contrast</a:t>
                </a:r>
                <a:r>
                  <a:rPr lang="en-US" sz="1600" dirty="0"/>
                  <a:t>: measures local intensity variation</a:t>
                </a:r>
                <a:br>
                  <a:rPr lang="en-US" sz="1600" dirty="0"/>
                </a:br>
                <a:endParaRPr lang="en-US" sz="1600" dirty="0"/>
              </a:p>
              <a:p>
                <a:pPr marL="1524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400" i="1" dirty="0" smtClean="0">
                          <a:latin typeface="Cambria Math" panose="02040503050406030204" pitchFamily="18" charset="0"/>
                        </a:rPr>
                        <m:t>𝐶𝑜𝑛𝑡𝑟𝑎𝑠𝑡</m:t>
                      </m:r>
                      <m:r>
                        <a:rPr lang="nn-NO" sz="1400" i="1" dirty="0" smtClean="0">
                          <a:latin typeface="Cambria Math" panose="02040503050406030204" pitchFamily="18" charset="0"/>
                        </a:rPr>
                        <m:t>=∑​</m:t>
                      </m:r>
                      <m:d>
                        <m:dPr>
                          <m:ctrlPr>
                            <a:rPr lang="nn-NO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nn-NO" sz="140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baseline="30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n-NO" sz="1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nn-NO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n-NO" sz="14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br>
                  <a:rPr lang="en-US" sz="1600" dirty="0"/>
                </a:br>
                <a:endParaRPr lang="en-US" sz="16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600" b="1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b="1" dirty="0"/>
                  <a:t>Energy</a:t>
                </a:r>
                <a:r>
                  <a:rPr lang="en-US" sz="1600" dirty="0"/>
                  <a:t> (Angular Second Moment):</a:t>
                </a:r>
              </a:p>
              <a:p>
                <a:pPr marL="1524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/>
                        <m:t>Energy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nn-NO" sz="1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nn-NO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n-NO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nn-NO" sz="1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n-NO" sz="1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600" baseline="30000" dirty="0">
                              <a:latin typeface="Didact Gothic" panose="00000500000000000000" pitchFamily="2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ar-AE" sz="14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b="1" dirty="0"/>
                  <a:t>Homogeneity</a:t>
                </a:r>
                <a:r>
                  <a:rPr lang="en-US" sz="1600" dirty="0"/>
                  <a:t> (Inverse Difference Moment):</a:t>
                </a:r>
              </a:p>
              <a:p>
                <a:pPr marL="1524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tx1"/>
                          </a:solidFill>
                          <a:latin typeface="Didact Gothic" panose="00000500000000000000" pitchFamily="2" charset="0"/>
                        </a:rPr>
                        <m:t>Homogeneity</m:t>
                      </m:r>
                      <m: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+∣</m:t>
                              </m:r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ar-AE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600" b="1" dirty="0"/>
                  <a:t>Correlation</a:t>
                </a:r>
                <a:r>
                  <a:rPr lang="en-US" sz="1600" dirty="0"/>
                  <a:t>: measures how correlated neighboring gray levels are.</a:t>
                </a:r>
              </a:p>
              <a:p>
                <a:pPr marL="0" indent="0">
                  <a:buNone/>
                </a:pPr>
                <a:br>
                  <a:rPr lang="en-US" sz="1600" b="1" dirty="0"/>
                </a:br>
                <a:endParaRPr lang="en-US" sz="1600" b="1" dirty="0"/>
              </a:p>
            </p:txBody>
          </p:sp>
        </mc:Choice>
        <mc:Fallback xmlns="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F7E41C1D-ECC2-8038-F804-AE89C47F1BE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112200"/>
                <a:ext cx="7704000" cy="3523395"/>
              </a:xfrm>
              <a:prstGeom prst="rect">
                <a:avLst/>
              </a:prstGeom>
              <a:blipFill>
                <a:blip r:embed="rId3"/>
                <a:stretch>
                  <a:fillRect l="-396" b="-14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54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9E6172D-A70F-45B7-7B66-B192F81A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C855B4DB-483F-6AFF-C2EB-87A0A7723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22823B18-64ED-3E67-2D09-DE88A0D9B100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We are given the 4×4 image,</a:t>
                </a:r>
                <a:br>
                  <a:rPr lang="en-US" sz="1600" b="1" dirty="0"/>
                </a:br>
                <a:endParaRPr lang="en-US" sz="1600" b="1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distance 𝑑 = 1 pixel.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Direction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0</a:t>
                </a:r>
                <a:r>
                  <a:rPr lang="en-US" sz="1600" baseline="30000" dirty="0"/>
                  <a:t>o </a:t>
                </a:r>
                <a:r>
                  <a:rPr lang="en-US" sz="1600" dirty="0"/>
                  <a:t>(right side)</a:t>
                </a:r>
              </a:p>
            </p:txBody>
          </p:sp>
        </mc:Choice>
        <mc:Fallback xmlns="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22823B18-64ED-3E67-2D09-DE88A0D9B10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56A73-FFE1-32D1-4360-B8733B888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643072"/>
              </p:ext>
            </p:extLst>
          </p:nvPr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F820C8-0293-13D8-B587-145DF233F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89167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(0,0)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(0,1)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(0,3)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(1,0)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(1,1)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(1,3)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(2,0)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(2,3)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(3,0)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(3,1)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(3,2)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(3,3)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5B927B10-C9FF-1703-1E5A-BCE2E7AE6903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7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6CEC273-9030-FE4C-4C60-B5E3219D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CA7B0640-4DE0-858D-E354-62278EFEE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AA935F82-FF77-B0C3-DA78-1EFB3A31A2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35FD28-62D8-3664-50E7-5FCE85EC01F5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E4B231-3028-F0AF-474B-187F51752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870935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AD56C9DD-3F1C-6F56-F808-26C16306DF47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6A1DB3-B1B4-3DCA-6B0E-4F96F9AF4772}"/>
              </a:ext>
            </a:extLst>
          </p:cNvPr>
          <p:cNvSpPr/>
          <p:nvPr/>
        </p:nvSpPr>
        <p:spPr>
          <a:xfrm>
            <a:off x="1630180" y="2865243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5A99B-8E32-A167-6D94-33767D94D186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0,0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CDFDBB-4651-4E7F-4544-BDF07E77129E}"/>
              </a:ext>
            </a:extLst>
          </p:cNvPr>
          <p:cNvSpPr/>
          <p:nvPr/>
        </p:nvSpPr>
        <p:spPr>
          <a:xfrm>
            <a:off x="1683152" y="3246533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49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B1A4B1DD-D60A-6456-4759-5C341E046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5A40E03-A01E-43A1-0B0A-C71790DEE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882EFB5A-09BD-B9C4-43C8-7972995F322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30BE01-27AC-91EA-51E0-4B4E8AFA4740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9A69DD-0974-D9BF-37E4-ED56302B0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35230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C929447A-70FF-8ED2-C65A-16F14819D5EC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105274-E239-ED10-2AB4-24ACDBCBA823}"/>
              </a:ext>
            </a:extLst>
          </p:cNvPr>
          <p:cNvSpPr/>
          <p:nvPr/>
        </p:nvSpPr>
        <p:spPr>
          <a:xfrm>
            <a:off x="2191062" y="2858657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3F49A9-7AB7-8975-83DE-50CB4380AF5A}"/>
              </a:ext>
            </a:extLst>
          </p:cNvPr>
          <p:cNvSpPr/>
          <p:nvPr/>
        </p:nvSpPr>
        <p:spPr>
          <a:xfrm>
            <a:off x="2168004" y="3268251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DAD16-0D49-F1CA-C548-BD28A3F3E5F7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0,1</a:t>
            </a:r>
          </a:p>
        </p:txBody>
      </p:sp>
    </p:spTree>
    <p:extLst>
      <p:ext uri="{BB962C8B-B14F-4D97-AF65-F5344CB8AC3E}">
        <p14:creationId xmlns:p14="http://schemas.microsoft.com/office/powerpoint/2010/main" val="381775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F885081-6AFF-133A-F869-EE4C3A3A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8916819-E5BB-90C6-9D06-C0853EB33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FEC615DE-AD5A-3F76-9AD5-6B6EDDCFD1B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DFC7C8-A2B9-669A-6C9F-2F1476ED3012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8C2400-E196-A846-FE09-05E9E6136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707631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76204821-FCCF-1904-D429-C191485956A2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3547E4-AD7A-170A-84D0-01DE1354BCDE}"/>
              </a:ext>
            </a:extLst>
          </p:cNvPr>
          <p:cNvSpPr/>
          <p:nvPr/>
        </p:nvSpPr>
        <p:spPr>
          <a:xfrm>
            <a:off x="1683152" y="3717873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31134-37D2-8D43-DB3A-9E3B30DE5E2B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0,2</a:t>
            </a:r>
          </a:p>
        </p:txBody>
      </p:sp>
    </p:spTree>
    <p:extLst>
      <p:ext uri="{BB962C8B-B14F-4D97-AF65-F5344CB8AC3E}">
        <p14:creationId xmlns:p14="http://schemas.microsoft.com/office/powerpoint/2010/main" val="2165534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3A80BE91-C61A-199B-DFFB-A89B2D11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53FE8F0D-296C-A0C2-2A4D-B90776CAE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A891FCE5-FB56-3E41-32FC-7AC729E9198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AA60E-2046-BEAE-A06A-496EB13939DE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D1817F-3052-A5A2-DBEF-8A3A17237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803574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435C6943-2075-5AF7-CC17-72F75467FAAF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00E13-384D-F28D-E177-2B3D67208957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0,3</a:t>
            </a:r>
          </a:p>
        </p:txBody>
      </p:sp>
    </p:spTree>
    <p:extLst>
      <p:ext uri="{BB962C8B-B14F-4D97-AF65-F5344CB8AC3E}">
        <p14:creationId xmlns:p14="http://schemas.microsoft.com/office/powerpoint/2010/main" val="343243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9B86CE78-B1A5-24C5-2003-B3E98093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68ABB308-8A3A-E098-E227-C2F256F68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4764E662-D999-5294-DAE5-3D28CADCC04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8F3B51-CBEB-B8AE-EE7B-591D8FD2C7C4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2700A7-C62F-EA64-0F56-379B1CD51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54358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C575949-CAF5-80E8-2CAB-1D64287856E0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8AA4D-03F5-1C3B-1B74-A601FBB24EEB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1,0</a:t>
            </a:r>
          </a:p>
        </p:txBody>
      </p:sp>
    </p:spTree>
    <p:extLst>
      <p:ext uri="{BB962C8B-B14F-4D97-AF65-F5344CB8AC3E}">
        <p14:creationId xmlns:p14="http://schemas.microsoft.com/office/powerpoint/2010/main" val="101004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96BD92BD-6C53-0EF1-A5F6-145A2B6C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EA8BCCFC-5C15-12BE-CF37-061E802F1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7D00C168-460F-8CE1-8EC7-3BF91582FD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ABD1B0-23C3-D769-0F6F-32AE1D21783D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700A4E-B1EC-A45E-A9E3-A3D1168E4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96726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6655CAE0-E829-8F5F-8AC5-87EF9543DD08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37CA6-03CE-12D7-9F9B-E1E84FDE82BE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89DCFE-615F-EE1E-F12E-565133AF1B99}"/>
              </a:ext>
            </a:extLst>
          </p:cNvPr>
          <p:cNvSpPr/>
          <p:nvPr/>
        </p:nvSpPr>
        <p:spPr>
          <a:xfrm>
            <a:off x="2708223" y="2865243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77A03B-FCE0-A1F1-46E2-FB0CBA553E3C}"/>
              </a:ext>
            </a:extLst>
          </p:cNvPr>
          <p:cNvSpPr/>
          <p:nvPr/>
        </p:nvSpPr>
        <p:spPr>
          <a:xfrm>
            <a:off x="2751945" y="3299554"/>
            <a:ext cx="1121765" cy="517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0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F10B792-0812-EDB1-26DD-BA84C811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8C22ABB7-419B-1999-5DCA-4B02AB64F3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43E3B3D7-88B2-FBDC-B01F-36F1E67DA23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EEA30B-54C7-A063-BB9C-8FF792C54D6F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C71A3-610F-10CD-407D-6DE920459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05431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F39D0481-2787-7688-EE17-B8219BB9A6CE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B598C-23CE-AF37-07F7-5065CA3A02B4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1,2</a:t>
            </a:r>
          </a:p>
        </p:txBody>
      </p:sp>
    </p:spTree>
    <p:extLst>
      <p:ext uri="{BB962C8B-B14F-4D97-AF65-F5344CB8AC3E}">
        <p14:creationId xmlns:p14="http://schemas.microsoft.com/office/powerpoint/2010/main" val="3133049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9D5605A-A3F9-73F2-C091-9F4DA1A5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86884D4F-03CA-D74B-E491-8A4D94661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C2A80506-6BD6-54CA-09C6-3AFCC27568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0F1B42-ABC2-AEF4-9E8B-2591670E3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926320"/>
              </p:ext>
            </p:extLst>
          </p:nvPr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CD1CC5-1ED4-0812-8111-0C20E455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090629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6446AE67-0578-5C9D-A437-8D50DFD9B0ED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D67763-4171-AF47-88E1-3BC1F3660C0D}"/>
              </a:ext>
            </a:extLst>
          </p:cNvPr>
          <p:cNvSpPr txBox="1"/>
          <p:nvPr/>
        </p:nvSpPr>
        <p:spPr>
          <a:xfrm>
            <a:off x="4215981" y="3410096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1,3</a:t>
            </a:r>
          </a:p>
        </p:txBody>
      </p:sp>
    </p:spTree>
    <p:extLst>
      <p:ext uri="{BB962C8B-B14F-4D97-AF65-F5344CB8AC3E}">
        <p14:creationId xmlns:p14="http://schemas.microsoft.com/office/powerpoint/2010/main" val="293367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8D2A27D-F1FA-8706-FE83-69EA0F66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BB9E884-73E5-A62E-9E29-59F5C5ECC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4E238ECC-029E-CAC5-58B9-2DEB2808C60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Build the GLCM 𝑃(𝑖,𝑗)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CC0FC9-CA16-D244-6F41-A6896DAA141A}"/>
              </a:ext>
            </a:extLst>
          </p:cNvPr>
          <p:cNvGraphicFramePr>
            <a:graphicFrameLocks noGrp="1"/>
          </p:cNvGraphicFramePr>
          <p:nvPr/>
        </p:nvGraphicFramePr>
        <p:xfrm>
          <a:off x="1711377" y="2923184"/>
          <a:ext cx="2081136" cy="168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84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20284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02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90F0A2-FB47-C3C0-7F98-705C1AA30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066125"/>
              </p:ext>
            </p:extLst>
          </p:nvPr>
        </p:nvGraphicFramePr>
        <p:xfrm>
          <a:off x="5389976" y="2713081"/>
          <a:ext cx="3034025" cy="230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554BAE1A-7E12-1C1B-8A21-B0A47A1B0E84}"/>
              </a:ext>
            </a:extLst>
          </p:cNvPr>
          <p:cNvSpPr/>
          <p:nvPr/>
        </p:nvSpPr>
        <p:spPr>
          <a:xfrm>
            <a:off x="4164531" y="3717873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72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4156C20-CDD4-57CF-AAB1-926D0907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CBCE8DE-B44D-BC88-ABBA-DF5D762189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EE1AA24E-03D5-3F50-851D-E049F66A049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Symmetrization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CE095E-F1E3-220A-240B-AED35B864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523942"/>
              </p:ext>
            </p:extLst>
          </p:nvPr>
        </p:nvGraphicFramePr>
        <p:xfrm>
          <a:off x="353282" y="2353318"/>
          <a:ext cx="2427220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FDAFB5-9D12-4894-FD48-06D1109C3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886748"/>
              </p:ext>
            </p:extLst>
          </p:nvPr>
        </p:nvGraphicFramePr>
        <p:xfrm>
          <a:off x="3376298" y="2353318"/>
          <a:ext cx="2427220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69F296-3861-F4AA-840C-553EBCC97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11598"/>
              </p:ext>
            </p:extLst>
          </p:nvPr>
        </p:nvGraphicFramePr>
        <p:xfrm>
          <a:off x="6399314" y="2353318"/>
          <a:ext cx="2427220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7" name="Plus Sign 6">
            <a:extLst>
              <a:ext uri="{FF2B5EF4-FFF2-40B4-BE49-F238E27FC236}">
                <a16:creationId xmlns:a16="http://schemas.microsoft.com/office/drawing/2014/main" id="{317161A4-69B0-93C3-2B07-781D29AEF531}"/>
              </a:ext>
            </a:extLst>
          </p:cNvPr>
          <p:cNvSpPr/>
          <p:nvPr/>
        </p:nvSpPr>
        <p:spPr>
          <a:xfrm>
            <a:off x="2908092" y="3245370"/>
            <a:ext cx="344774" cy="39724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s 7">
            <a:extLst>
              <a:ext uri="{FF2B5EF4-FFF2-40B4-BE49-F238E27FC236}">
                <a16:creationId xmlns:a16="http://schemas.microsoft.com/office/drawing/2014/main" id="{EA360A73-3906-10F4-F866-D80582524159}"/>
              </a:ext>
            </a:extLst>
          </p:cNvPr>
          <p:cNvSpPr/>
          <p:nvPr/>
        </p:nvSpPr>
        <p:spPr>
          <a:xfrm>
            <a:off x="5888549" y="3245370"/>
            <a:ext cx="425734" cy="329784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3633D-7091-3BF5-1C37-3750BDF16816}"/>
              </a:ext>
            </a:extLst>
          </p:cNvPr>
          <p:cNvSpPr txBox="1"/>
          <p:nvPr/>
        </p:nvSpPr>
        <p:spPr>
          <a:xfrm>
            <a:off x="353282" y="4232686"/>
            <a:ext cx="2427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CM of the image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3F902-8EBA-2955-F3E1-7A94EE9D5ABD}"/>
              </a:ext>
            </a:extLst>
          </p:cNvPr>
          <p:cNvSpPr txBox="1"/>
          <p:nvPr/>
        </p:nvSpPr>
        <p:spPr>
          <a:xfrm>
            <a:off x="3376298" y="4232686"/>
            <a:ext cx="2427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Transpose CM of the image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6BE424-BC8F-4C56-60D5-A382FAED2886}"/>
              </a:ext>
            </a:extLst>
          </p:cNvPr>
          <p:cNvSpPr txBox="1"/>
          <p:nvPr/>
        </p:nvSpPr>
        <p:spPr>
          <a:xfrm>
            <a:off x="6399314" y="4232685"/>
            <a:ext cx="2427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Symmetric GLCM</a:t>
            </a:r>
            <a:endParaRPr lang="en-US" sz="16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56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4B5EAD1-A549-4E2D-CBD5-CB032CFD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B7637BE-25F1-A765-10FF-F07D4532F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4062EA74-8546-FF50-EE6E-A7D40DA1DA6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Normalization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Sum of all elements = 24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674502-DC7C-44DF-037D-1C47387BE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58137"/>
              </p:ext>
            </p:extLst>
          </p:nvPr>
        </p:nvGraphicFramePr>
        <p:xfrm>
          <a:off x="1627445" y="2571750"/>
          <a:ext cx="2427220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7B362F-6C37-B902-F743-0C106FCBE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97541"/>
              </p:ext>
            </p:extLst>
          </p:nvPr>
        </p:nvGraphicFramePr>
        <p:xfrm>
          <a:off x="5320020" y="2571751"/>
          <a:ext cx="2677232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9308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69308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69308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69308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6FAA3C-14CA-D8A0-6B49-E08ED1009FAA}"/>
              </a:ext>
            </a:extLst>
          </p:cNvPr>
          <p:cNvSpPr txBox="1"/>
          <p:nvPr/>
        </p:nvSpPr>
        <p:spPr>
          <a:xfrm>
            <a:off x="1627445" y="4451118"/>
            <a:ext cx="2427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Symmetric GLCM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D9709-A690-3B4B-2A41-5F5365D47839}"/>
              </a:ext>
            </a:extLst>
          </p:cNvPr>
          <p:cNvSpPr txBox="1"/>
          <p:nvPr/>
        </p:nvSpPr>
        <p:spPr>
          <a:xfrm>
            <a:off x="5320020" y="4451118"/>
            <a:ext cx="2677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Normalized GLCM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E6EA089-6F3A-4E42-7BEE-C8FDB9F1FE8E}"/>
              </a:ext>
            </a:extLst>
          </p:cNvPr>
          <p:cNvSpPr/>
          <p:nvPr/>
        </p:nvSpPr>
        <p:spPr>
          <a:xfrm>
            <a:off x="4260629" y="3511434"/>
            <a:ext cx="85342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166CE3F-D167-1D9F-BD67-8A682E66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1B507D44-8E5D-AB74-FD09-BFB4D8D48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90249D2E-947D-B799-76B1-761B78440BD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Contrast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725F97-AC7C-0D3C-52C2-D8C860EDB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5667"/>
              </p:ext>
            </p:extLst>
          </p:nvPr>
        </p:nvGraphicFramePr>
        <p:xfrm>
          <a:off x="3314582" y="2353318"/>
          <a:ext cx="2550652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7663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8" name="Equals 7">
            <a:extLst>
              <a:ext uri="{FF2B5EF4-FFF2-40B4-BE49-F238E27FC236}">
                <a16:creationId xmlns:a16="http://schemas.microsoft.com/office/drawing/2014/main" id="{CC1F69B3-D58F-5887-6DDA-5F9CBFECE8CA}"/>
              </a:ext>
            </a:extLst>
          </p:cNvPr>
          <p:cNvSpPr/>
          <p:nvPr/>
        </p:nvSpPr>
        <p:spPr>
          <a:xfrm>
            <a:off x="5973580" y="3245370"/>
            <a:ext cx="425734" cy="329784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F58CF-185C-2D53-802D-6F8C4222D332}"/>
              </a:ext>
            </a:extLst>
          </p:cNvPr>
          <p:cNvSpPr txBox="1"/>
          <p:nvPr/>
        </p:nvSpPr>
        <p:spPr>
          <a:xfrm>
            <a:off x="124204" y="4260629"/>
            <a:ext cx="26562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| I – J |</a:t>
            </a:r>
            <a:r>
              <a:rPr lang="en-US" sz="1600" b="1" baseline="30000" dirty="0">
                <a:latin typeface="Didact Gothic" panose="00000500000000000000" pitchFamily="2" charset="0"/>
              </a:rPr>
              <a:t>2</a:t>
            </a:r>
            <a:endParaRPr lang="en-US" sz="1600" baseline="30000" dirty="0">
              <a:latin typeface="Didact Gothic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B4165-AACB-47D3-48AB-09DF5EF28989}"/>
              </a:ext>
            </a:extLst>
          </p:cNvPr>
          <p:cNvSpPr txBox="1"/>
          <p:nvPr/>
        </p:nvSpPr>
        <p:spPr>
          <a:xfrm>
            <a:off x="3376298" y="4232686"/>
            <a:ext cx="2427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Normalized GLCM p (</a:t>
            </a:r>
            <a:r>
              <a:rPr lang="en-US" sz="1600" b="1" dirty="0" err="1">
                <a:latin typeface="Didact Gothic" panose="00000500000000000000" pitchFamily="2" charset="0"/>
              </a:rPr>
              <a:t>i,j</a:t>
            </a:r>
            <a:r>
              <a:rPr lang="en-US" sz="1600" b="1" dirty="0">
                <a:latin typeface="Didact Gothic" panose="00000500000000000000" pitchFamily="2" charset="0"/>
              </a:rPr>
              <a:t>) 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C0330-0A39-9094-8D9C-4B1EA7267BC1}"/>
              </a:ext>
            </a:extLst>
          </p:cNvPr>
          <p:cNvSpPr txBox="1"/>
          <p:nvPr/>
        </p:nvSpPr>
        <p:spPr>
          <a:xfrm>
            <a:off x="6469144" y="4260629"/>
            <a:ext cx="25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| I – J |</a:t>
            </a:r>
            <a:r>
              <a:rPr lang="en-US" sz="1600" b="1" baseline="30000" dirty="0">
                <a:latin typeface="Didact Gothic" panose="00000500000000000000" pitchFamily="2" charset="0"/>
              </a:rPr>
              <a:t>2 </a:t>
            </a:r>
            <a:r>
              <a:rPr lang="en-US" sz="1600" b="1" dirty="0">
                <a:latin typeface="Didact Gothic" panose="00000500000000000000" pitchFamily="2" charset="0"/>
              </a:rPr>
              <a:t>x p (</a:t>
            </a:r>
            <a:r>
              <a:rPr lang="en-US" sz="1600" b="1" dirty="0" err="1">
                <a:latin typeface="Didact Gothic" panose="00000500000000000000" pitchFamily="2" charset="0"/>
              </a:rPr>
              <a:t>i</a:t>
            </a:r>
            <a:r>
              <a:rPr lang="en-US" sz="1600" b="1" dirty="0">
                <a:latin typeface="Didact Gothic" panose="00000500000000000000" pitchFamily="2" charset="0"/>
              </a:rPr>
              <a:t>, j)</a:t>
            </a:r>
            <a:endParaRPr lang="en-US" sz="1600" dirty="0">
              <a:latin typeface="Didact Gothic" panose="000005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2BEE38-5587-4EDC-0DFF-D58B4A87E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55143"/>
              </p:ext>
            </p:extLst>
          </p:nvPr>
        </p:nvGraphicFramePr>
        <p:xfrm>
          <a:off x="112427" y="2325374"/>
          <a:ext cx="2668075" cy="19352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615">
                  <a:extLst>
                    <a:ext uri="{9D8B030D-6E8A-4147-A177-3AD203B41FA5}">
                      <a16:colId xmlns:a16="http://schemas.microsoft.com/office/drawing/2014/main" val="3351172083"/>
                    </a:ext>
                  </a:extLst>
                </a:gridCol>
                <a:gridCol w="53361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53361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3361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533615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3598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P(</a:t>
                      </a:r>
                      <a:r>
                        <a:rPr lang="en-US" sz="1600" dirty="0" err="1">
                          <a:latin typeface="Didact Gothic" panose="00000500000000000000" pitchFamily="2" charset="0"/>
                        </a:rPr>
                        <a:t>i,j</a:t>
                      </a:r>
                      <a:r>
                        <a:rPr lang="en-US" sz="1600" dirty="0">
                          <a:latin typeface="Didact Gothic" panose="000005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119384"/>
                  </a:ext>
                </a:extLst>
              </a:tr>
              <a:tr h="4959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3598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3598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3598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7CB276-A7B5-1072-D23F-1E7056C5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694394"/>
              </p:ext>
            </p:extLst>
          </p:nvPr>
        </p:nvGraphicFramePr>
        <p:xfrm>
          <a:off x="6469144" y="2381261"/>
          <a:ext cx="2550652" cy="187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7663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  <a:gridCol w="637663">
                  <a:extLst>
                    <a:ext uri="{9D8B030D-6E8A-4147-A177-3AD203B41FA5}">
                      <a16:colId xmlns:a16="http://schemas.microsoft.com/office/drawing/2014/main" val="2679713521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0.1664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0.0416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880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61D6E6-21B5-22A9-B6F4-4D09A2546415}"/>
              </a:ext>
            </a:extLst>
          </p:cNvPr>
          <p:cNvSpPr txBox="1"/>
          <p:nvPr/>
        </p:nvSpPr>
        <p:spPr>
          <a:xfrm>
            <a:off x="6469144" y="2017597"/>
            <a:ext cx="2550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Didact Gothic" panose="00000500000000000000" pitchFamily="2" charset="0"/>
              </a:rPr>
              <a:t>Contrast = 0.582</a:t>
            </a:r>
            <a:endParaRPr lang="en-US" dirty="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68D74D59-79DE-644B-C3B5-CF2A8AA12A59}"/>
              </a:ext>
            </a:extLst>
          </p:cNvPr>
          <p:cNvSpPr/>
          <p:nvPr/>
        </p:nvSpPr>
        <p:spPr>
          <a:xfrm>
            <a:off x="2850332" y="3189157"/>
            <a:ext cx="374754" cy="44221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9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C76A0A8F-0531-0B2A-C327-5F44E546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6B87300D-86C9-9C74-66E0-D50AB3961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0D0D42-33E8-5EA6-6F06-2E33760A2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05" y="1441984"/>
            <a:ext cx="8512189" cy="292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06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253146F2-B822-4537-4A8B-AC7695FC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727809F0-8627-DE82-6DD3-430A39604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Advantages of GLCM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6528D3F6-E2AF-45F7-D8CD-30D27CEBC01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1" dirty="0"/>
              <a:t>Captures texture, not just intensity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Considers pairs of pixels → encodes spatial structure, helpful for distinguishing textures with similar histograms.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Flexible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You can choose different directions and distances to capture anisotropic textures (e.g., vertical stripes vs horizontal stripes).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Interpretable features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Features like contrast, energy, and homogeneity have intuitive meanings (rough vs smooth, homogeneous vs heterogeneous).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1289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EE2D3DF-59D4-4FA4-F598-122EFAE2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07DE501-19C2-14DD-3024-FD145F560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Limitations of GLCM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BF29BA9A-BA30-9CC8-0542-2F27BDC9404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Parameter sensitivity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Results depend on: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sz="1600" dirty="0"/>
              <a:t>Number of gray levels 𝐿 (quantization),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sz="1600" dirty="0"/>
              <a:t>Choice of distance 𝑑,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sz="1600" dirty="0"/>
              <a:t>Choice of directions (0°, 45°, 90°, 135°, etc.).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High dimensionality for many gray levels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For an 8-bit image with 256 gray levels, GLCM is 256×256 → 65,536 entries per direction and distance → heavy in memory and computation.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Not inherently rotation/scale invariant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Changing the rotation of the image changes the GLCM unless you average over multiple directions.</a:t>
            </a:r>
          </a:p>
        </p:txBody>
      </p:sp>
    </p:spTree>
    <p:extLst>
      <p:ext uri="{BB962C8B-B14F-4D97-AF65-F5344CB8AC3E}">
        <p14:creationId xmlns:p14="http://schemas.microsoft.com/office/powerpoint/2010/main" val="223550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E9DD214-1816-4A97-D4CB-400C1057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984281A-C178-12D0-095C-5A902FB24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Limitations of GLCM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7A566FE1-73A2-652F-5108-2D0F0CAC2BF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Sensitive to noise and illumination changes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Small changes in intensities (noise, illumination) can affect co-occurrence counts.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Global unless localized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A single GLCM for the whole image may miss local variations; often people compute GLCM over moving windows, which increases computation.</a:t>
            </a:r>
          </a:p>
        </p:txBody>
      </p:sp>
    </p:spTree>
    <p:extLst>
      <p:ext uri="{BB962C8B-B14F-4D97-AF65-F5344CB8AC3E}">
        <p14:creationId xmlns:p14="http://schemas.microsoft.com/office/powerpoint/2010/main" val="1649017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58FCC36-2D5B-7E5C-F638-2A41F1DF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381B571F-A4A4-C263-BC29-BCC5EC867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Applications of GLCM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920F9A11-2522-49D9-7946-11CBBB92432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6882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Medical Imaging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Tumor vs normal tissue classification in CT, MRI, ultrasound, histopathology, etc. GLCM features often help characterize tissue heterogeneity.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Remote Sensing and Land Cover Classification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Distinguish forests, urban areas, water bodies based on texture in satellite images.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Industrial Inspection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Detect surface defects (scratches, cracks, fabric defects, paper quality, etc.) from textures.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Object Detection &amp; Pattern Recognition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Use GLCM features as inputs to machine learning models for object detection, texture classification, etc. </a:t>
            </a:r>
          </a:p>
        </p:txBody>
      </p:sp>
    </p:spTree>
    <p:extLst>
      <p:ext uri="{BB962C8B-B14F-4D97-AF65-F5344CB8AC3E}">
        <p14:creationId xmlns:p14="http://schemas.microsoft.com/office/powerpoint/2010/main" val="2794650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5153979-AC1F-11ED-73CC-9091E5AA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>
            <a:extLst>
              <a:ext uri="{FF2B5EF4-FFF2-40B4-BE49-F238E27FC236}">
                <a16:creationId xmlns:a16="http://schemas.microsoft.com/office/drawing/2014/main" id="{12EBADA5-F937-E8C5-FA60-7EEEA166220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Local Binary Pattern (LBP)</a:t>
            </a:r>
            <a:endParaRPr b="0" dirty="0"/>
          </a:p>
        </p:txBody>
      </p:sp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F4CDAC40-A072-EBC8-8B8D-1FB17DAE91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CSE523 – Digital Image Processing</a:t>
            </a:r>
            <a:endParaRPr dirty="0"/>
          </a:p>
        </p:txBody>
      </p:sp>
      <p:cxnSp>
        <p:nvCxnSpPr>
          <p:cNvPr id="110" name="Google Shape;110;p20">
            <a:extLst>
              <a:ext uri="{FF2B5EF4-FFF2-40B4-BE49-F238E27FC236}">
                <a16:creationId xmlns:a16="http://schemas.microsoft.com/office/drawing/2014/main" id="{BE84B9BC-D5E4-2F6C-DCDC-AEF8E1BC8828}"/>
              </a:ext>
            </a:extLst>
          </p:cNvPr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85226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07CC9705-DE8B-46F4-6FE2-9EF8C622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A2815EBA-5A58-6AFD-6671-787BF3181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Local Binary Pattern (LBP)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9A7E1902-7608-4D17-07EE-CC1D317E053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036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LBP</a:t>
            </a:r>
            <a:r>
              <a:rPr lang="en" sz="2000" b="1" dirty="0"/>
              <a:t>:</a:t>
            </a:r>
            <a:endParaRPr lang="en" sz="1600" b="1" dirty="0"/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sz="1600" b="1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Examine a pixel relative to its neighborhood: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Compare neighbor values to center pixel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Form binary pattern indicating structure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It tells - are neighbors brighter or darker than the center?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This effectively captures: Edges, Corners, Spots, Flat regions, Micro-texture.</a:t>
            </a:r>
          </a:p>
        </p:txBody>
      </p:sp>
    </p:spTree>
    <p:extLst>
      <p:ext uri="{BB962C8B-B14F-4D97-AF65-F5344CB8AC3E}">
        <p14:creationId xmlns:p14="http://schemas.microsoft.com/office/powerpoint/2010/main" val="677411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0ED77EA-9EAF-F672-B7E0-3D8ACEB8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C53FCE0-4A92-FCC7-567B-1E9F691D97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LBP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F6BD57F4-E636-1990-6A18-4EE609EAD26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Didact Gothic" panose="00000500000000000000" pitchFamily="2" charset="0"/>
              </a:rPr>
              <a:t>Consider a grayscale image 𝐼(𝑥,𝑦)</a:t>
            </a:r>
          </a:p>
          <a:p>
            <a:pPr marL="0" indent="0">
              <a:buNone/>
            </a:pPr>
            <a:endParaRPr lang="en-US" sz="1600" b="1" dirty="0">
              <a:latin typeface="Didact Gothic" panose="00000500000000000000" pitchFamily="2" charset="0"/>
            </a:endParaRPr>
          </a:p>
          <a:p>
            <a:pPr marL="0" indent="0">
              <a:buNone/>
            </a:pPr>
            <a:r>
              <a:rPr lang="en-US" sz="1600" b="1" dirty="0"/>
              <a:t>Step 1: Neighborhood (3×3 window)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D96745-8EBE-6D61-69D7-135D16B3B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40184"/>
              </p:ext>
            </p:extLst>
          </p:nvPr>
        </p:nvGraphicFramePr>
        <p:xfrm>
          <a:off x="3661792" y="2421849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1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2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7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3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6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5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4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567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E6BBB28E-8CAA-13F6-CE51-3FA2493E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1CF115C9-1AEE-EF69-1F60-F0828728C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LBP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E4421883-6ADC-0629-ACA2-05A9AE981E1D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𝑝𝑐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r>
                  <a:rPr lang="en-US" sz="1600" b="1" dirty="0"/>
                  <a:t>Step 3: Binary decision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&amp;1, 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m:rPr>
                          <m:nor/>
                        </m:rPr>
                        <a:rPr lang="pt-BR" sz="1600"/>
                        <m:t>​</m:t>
                      </m:r>
                    </m:oMath>
                  </m:oMathPara>
                </a14:m>
                <a:endParaRPr lang="en-US" sz="1600" b="1" dirty="0"/>
              </a:p>
              <a:p>
                <a:pPr marL="0" indent="0">
                  <a:buNone/>
                </a:pPr>
                <a:endParaRPr lang="en-US" sz="1600" b="1" baseline="30000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E4421883-6ADC-0629-ACA2-05A9AE981E1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2EC5D2-1CAA-A262-C9C2-C9B25AED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87318"/>
              </p:ext>
            </p:extLst>
          </p:nvPr>
        </p:nvGraphicFramePr>
        <p:xfrm>
          <a:off x="3775870" y="2077077"/>
          <a:ext cx="1592259" cy="1295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753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530753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30753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28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1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2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7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3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6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5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4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89AED54B-2636-B928-2AA8-35B8A5E7CD80}"/>
              </a:ext>
            </a:extLst>
          </p:cNvPr>
          <p:cNvSpPr/>
          <p:nvPr/>
        </p:nvSpPr>
        <p:spPr>
          <a:xfrm>
            <a:off x="4354643" y="2630775"/>
            <a:ext cx="449705" cy="3168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1821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05F8774D-4FC5-1D1F-390B-4B6B77518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0E39A1AA-5DC9-8F12-A00B-0C882F0EF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LBP</a:t>
            </a:r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38E252-D345-3AC8-1578-CF2AE6027FB7}"/>
              </a:ext>
            </a:extLst>
          </p:cNvPr>
          <p:cNvSpPr/>
          <p:nvPr/>
        </p:nvSpPr>
        <p:spPr>
          <a:xfrm>
            <a:off x="3790862" y="2196778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784423-466C-56AC-2815-409F96207740}"/>
              </a:ext>
            </a:extLst>
          </p:cNvPr>
          <p:cNvSpPr/>
          <p:nvPr/>
        </p:nvSpPr>
        <p:spPr>
          <a:xfrm>
            <a:off x="4354643" y="2196779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B1704E-4D06-B274-0E46-485CE72A1DE6}"/>
              </a:ext>
            </a:extLst>
          </p:cNvPr>
          <p:cNvSpPr/>
          <p:nvPr/>
        </p:nvSpPr>
        <p:spPr>
          <a:xfrm>
            <a:off x="4903435" y="2196778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8A954C-1A10-CFAA-4C70-72D3BCA593C7}"/>
              </a:ext>
            </a:extLst>
          </p:cNvPr>
          <p:cNvSpPr/>
          <p:nvPr/>
        </p:nvSpPr>
        <p:spPr>
          <a:xfrm>
            <a:off x="4888446" y="2630775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4B4430-AE5A-90FE-D491-69057CC7E296}"/>
              </a:ext>
            </a:extLst>
          </p:cNvPr>
          <p:cNvSpPr/>
          <p:nvPr/>
        </p:nvSpPr>
        <p:spPr>
          <a:xfrm>
            <a:off x="4873455" y="3030752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34A8E9-A207-D2BE-D6F1-87C2242EFC0F}"/>
              </a:ext>
            </a:extLst>
          </p:cNvPr>
          <p:cNvSpPr/>
          <p:nvPr/>
        </p:nvSpPr>
        <p:spPr>
          <a:xfrm>
            <a:off x="4351506" y="3025995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A15677-D32B-541A-E8D9-CDD387069C38}"/>
              </a:ext>
            </a:extLst>
          </p:cNvPr>
          <p:cNvSpPr/>
          <p:nvPr/>
        </p:nvSpPr>
        <p:spPr>
          <a:xfrm>
            <a:off x="3827452" y="3025995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6FBE3D-882C-E552-4C3D-929A801B6015}"/>
              </a:ext>
            </a:extLst>
          </p:cNvPr>
          <p:cNvSpPr/>
          <p:nvPr/>
        </p:nvSpPr>
        <p:spPr>
          <a:xfrm>
            <a:off x="3823262" y="2630775"/>
            <a:ext cx="449705" cy="3168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AAF799E-1A2D-3F94-76F5-058656FB0944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r>
                  <a:rPr lang="en-US" sz="1600" b="1" dirty="0"/>
                  <a:t>Step 2: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𝑝𝑐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r>
                  <a:rPr lang="en-US" sz="1600" b="1" dirty="0"/>
                  <a:t>Step 3: Binary decision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&amp;1, 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m:rPr>
                          <m:nor/>
                        </m:rPr>
                        <a:rPr lang="pt-BR" sz="1600"/>
                        <m:t>​</m:t>
                      </m:r>
                    </m:oMath>
                  </m:oMathPara>
                </a14:m>
                <a:endParaRPr lang="en-US" sz="1600" b="1" dirty="0"/>
              </a:p>
              <a:p>
                <a:pPr marL="0" indent="0">
                  <a:buNone/>
                </a:pPr>
                <a:endParaRPr lang="en-US" sz="1600" b="1" baseline="30000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AAF799E-1A2D-3F94-76F5-058656FB094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B98DBF-C6BA-85B9-46FC-9E0F8EAF5C83}"/>
              </a:ext>
            </a:extLst>
          </p:cNvPr>
          <p:cNvGraphicFramePr>
            <a:graphicFrameLocks noGrp="1"/>
          </p:cNvGraphicFramePr>
          <p:nvPr/>
        </p:nvGraphicFramePr>
        <p:xfrm>
          <a:off x="3775870" y="2077077"/>
          <a:ext cx="1592259" cy="1295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753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530753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30753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28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1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2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7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3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6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5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4</a:t>
                      </a:r>
                      <a:endParaRPr lang="en-US" sz="16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685688C-7D40-1D07-582E-BEFE68C9BE7A}"/>
              </a:ext>
            </a:extLst>
          </p:cNvPr>
          <p:cNvSpPr/>
          <p:nvPr/>
        </p:nvSpPr>
        <p:spPr>
          <a:xfrm>
            <a:off x="4354643" y="2630775"/>
            <a:ext cx="449705" cy="3168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955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FF7993B-ECD3-9618-4486-0107D25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A163008D-A62B-4701-5084-78395551F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mechanism of LBP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8BD54BCE-77E1-8F5F-61E7-9D18C613AC6E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4: 2</a:t>
                </a:r>
                <a:r>
                  <a:rPr lang="en-US" sz="1600" b="1" baseline="30000" dirty="0"/>
                  <a:t>k</a:t>
                </a:r>
                <a:r>
                  <a:rPr lang="en-US" sz="1600" b="1" dirty="0"/>
                  <a:t> matrix</a:t>
                </a:r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endParaRPr lang="en-US" sz="1600" b="1" baseline="30000" dirty="0"/>
              </a:p>
              <a:p>
                <a:pPr marL="0" indent="0">
                  <a:buNone/>
                </a:pPr>
                <a:r>
                  <a:rPr lang="en-US" sz="1600" b="1" dirty="0"/>
                  <a:t>Step 5: LBP encoding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𝐿𝐵𝑃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𝑝𝑐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​)=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600" i="1" baseline="-25000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baseline="-25000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​−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</m:e>
                          </m:d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baseline="30000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nor/>
                            </m:rPr>
                            <a:rPr lang="en-US" sz="1600" b="1" baseline="300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1600" b="1" baseline="30000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8BD54BCE-77E1-8F5F-61E7-9D18C613AC6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62E080-5094-34E6-A3DE-C45849032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6678"/>
              </p:ext>
            </p:extLst>
          </p:nvPr>
        </p:nvGraphicFramePr>
        <p:xfrm>
          <a:off x="2752790" y="1752095"/>
          <a:ext cx="1554786" cy="1264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262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518262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18262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158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37433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  <a:endParaRPr lang="en-US" sz="1600" baseline="3000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37433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  <a:r>
                        <a:rPr lang="en-US" sz="1600" baseline="3000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1BE840-0FA7-E7D1-F3C2-3281FBB76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174871"/>
              </p:ext>
            </p:extLst>
          </p:nvPr>
        </p:nvGraphicFramePr>
        <p:xfrm>
          <a:off x="5071269" y="1752094"/>
          <a:ext cx="1554786" cy="1264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262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518262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518262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158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37433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37433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89357DAD-050B-9881-1333-D42850940977}"/>
              </a:ext>
            </a:extLst>
          </p:cNvPr>
          <p:cNvSpPr/>
          <p:nvPr/>
        </p:nvSpPr>
        <p:spPr>
          <a:xfrm>
            <a:off x="4363596" y="2384372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46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1BFF174C-6DC5-9687-2169-C957DD70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A1DED9C7-1270-B3BE-06A8-D7F1355AC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003FEE5A-CD78-A336-96B9-55BC32EF0B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Didact Gothic" panose="00000500000000000000" pitchFamily="2" charset="0"/>
              </a:rPr>
              <a:t>Consider a grayscale image 𝐼(𝑥,𝑦)</a:t>
            </a:r>
          </a:p>
          <a:p>
            <a:pPr marL="0" indent="0">
              <a:buNone/>
            </a:pPr>
            <a:endParaRPr lang="en-US" sz="1600" b="1" dirty="0">
              <a:latin typeface="Didact Gothic" panose="00000500000000000000" pitchFamily="2" charset="0"/>
            </a:endParaRPr>
          </a:p>
          <a:p>
            <a:pPr marL="0" indent="0">
              <a:buNone/>
            </a:pPr>
            <a:r>
              <a:rPr lang="en-US" sz="1600" b="1" dirty="0"/>
              <a:t>Step 1: Neighborhood (3×3 window)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E5CE5E-86FF-D0AC-87DA-7F01164F4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435745"/>
              </p:ext>
            </p:extLst>
          </p:nvPr>
        </p:nvGraphicFramePr>
        <p:xfrm>
          <a:off x="3661792" y="2421849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ED1A7724-C93A-8306-4FBE-D1F28EBC091B}"/>
              </a:ext>
            </a:extLst>
          </p:cNvPr>
          <p:cNvSpPr/>
          <p:nvPr/>
        </p:nvSpPr>
        <p:spPr>
          <a:xfrm>
            <a:off x="4322788" y="3031406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C2ECFB-A02B-2EE8-A3AC-A051A533109E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4572000" y="2163155"/>
            <a:ext cx="839449" cy="868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BDFDC4-5014-F468-434C-DCD35030AD0F}"/>
              </a:ext>
            </a:extLst>
          </p:cNvPr>
          <p:cNvSpPr txBox="1"/>
          <p:nvPr/>
        </p:nvSpPr>
        <p:spPr>
          <a:xfrm>
            <a:off x="5366479" y="199222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4450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F60679D6-FB64-923B-2F6E-D377B13A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B78BA4B-E942-A2EE-F3A4-DCCFED7D0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3FF311B8-119C-430C-1BF7-A612AE923772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3FF311B8-119C-430C-1BF7-A612AE92377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629538-DF5B-27F5-D2DA-370C89910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34287"/>
              </p:ext>
            </p:extLst>
          </p:nvPr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D27E90CD-FE3D-7274-313D-DD8DF7119193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DBF28F-1432-A96A-7BCE-5A1BEB1145A9}"/>
              </a:ext>
            </a:extLst>
          </p:cNvPr>
          <p:cNvSpPr/>
          <p:nvPr/>
        </p:nvSpPr>
        <p:spPr>
          <a:xfrm>
            <a:off x="2134224" y="2409315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5CED9F-254C-4099-9187-67631CF84F29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866275" y="2322743"/>
            <a:ext cx="267949" cy="2797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8A85D3-2C89-7F2A-1C4D-5A8E07BBDA1B}"/>
              </a:ext>
            </a:extLst>
          </p:cNvPr>
          <p:cNvSpPr txBox="1"/>
          <p:nvPr/>
        </p:nvSpPr>
        <p:spPr>
          <a:xfrm>
            <a:off x="1502073" y="201496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63F0F9-310D-5211-7923-AD9BB3E8F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25031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BC617E4-ACF5-E94C-E1FA-CAF827A02168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0B74B-A956-C024-1598-B214A0CB4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5B9F3-5524-82B0-B0FD-193F83EEBB23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EE479E-E144-076C-4A87-483EA825E739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374279-3E49-584D-2023-5938628F4D55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2666442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F08156C4-86A1-AAD3-E075-281B2FED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EA2E4CC0-D222-D98A-918C-F43B3968C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DBB5A51F-90A1-2309-2B28-AF91EFAD95AC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DBB5A51F-90A1-2309-2B28-AF91EFAD95A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FE7F95-B183-7352-763F-BAF7ACEFC58C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167F81C7-9974-6833-6484-D541C6889042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4F7B4F7-3042-58B0-7113-BDD4BE1C4C7F}"/>
              </a:ext>
            </a:extLst>
          </p:cNvPr>
          <p:cNvSpPr/>
          <p:nvPr/>
        </p:nvSpPr>
        <p:spPr>
          <a:xfrm>
            <a:off x="2750909" y="2409315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F4B2E3-8324-9F8B-5DE6-62F434535979}"/>
              </a:ext>
            </a:extLst>
          </p:cNvPr>
          <p:cNvCxnSpPr>
            <a:cxnSpLocks/>
          </p:cNvCxnSpPr>
          <p:nvPr/>
        </p:nvCxnSpPr>
        <p:spPr>
          <a:xfrm>
            <a:off x="3000121" y="2014966"/>
            <a:ext cx="0" cy="3920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387202-A8C0-65C7-3B50-D97805C17885}"/>
              </a:ext>
            </a:extLst>
          </p:cNvPr>
          <p:cNvSpPr txBox="1"/>
          <p:nvPr/>
        </p:nvSpPr>
        <p:spPr>
          <a:xfrm>
            <a:off x="2818020" y="16958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70724A-CF10-D147-ED4A-04731344A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796583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2EA7AA-7A1C-E337-59C3-B87236F55862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831FA-008B-7ADE-615D-50BF9BD97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AE32AE-F091-1420-23F5-BC370EF97C2D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F4E78B-DA4F-DAB2-3457-D45132E9D66A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07B47-F465-9A9D-B7F8-CB940B353F20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269723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FDD730FA-45ED-030B-3CEA-20EF754D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29637AD7-AA34-80B9-9D41-D8D7002D2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4023B86A-3FFD-741D-B3BE-433387A88F27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4023B86A-3FFD-741D-B3BE-433387A88F2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87363C-6274-D4CB-7067-63961B68B840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9AC005F3-2A56-D732-A058-41ECB5D455A8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42A623-63C9-B6D3-F7FA-EAC36D15A265}"/>
              </a:ext>
            </a:extLst>
          </p:cNvPr>
          <p:cNvSpPr/>
          <p:nvPr/>
        </p:nvSpPr>
        <p:spPr>
          <a:xfrm>
            <a:off x="3353880" y="2378574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D9F2B4-1984-BB50-603D-9010972C5820}"/>
              </a:ext>
            </a:extLst>
          </p:cNvPr>
          <p:cNvCxnSpPr>
            <a:cxnSpLocks/>
          </p:cNvCxnSpPr>
          <p:nvPr/>
        </p:nvCxnSpPr>
        <p:spPr>
          <a:xfrm>
            <a:off x="3603092" y="1986515"/>
            <a:ext cx="0" cy="3920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ED2A82-D2D1-9377-9A23-C7F2C8FE42D6}"/>
              </a:ext>
            </a:extLst>
          </p:cNvPr>
          <p:cNvSpPr txBox="1"/>
          <p:nvPr/>
        </p:nvSpPr>
        <p:spPr>
          <a:xfrm>
            <a:off x="3420991" y="167873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9BE8EB-83F6-C18A-848B-02C7118C7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40318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D84D13F5-0BDC-EC81-3677-ABD10858EF3A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2438F0-E953-8F7D-0944-317AECA1D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EF5CDD-F3C6-41F6-359F-B997874F83F1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74DE13-E1C7-14C6-2B2E-47C24C4A148E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9CEAF-2DB0-5603-54ED-75A6390ACA9F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27695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28E90E26-E83F-77B8-5740-8DD637F4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716FDD2C-5B4A-4B51-EBD6-254048715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13E23A0A-6254-B38F-52DE-17EF7E8727DB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13E23A0A-6254-B38F-52DE-17EF7E8727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22C9F-9DFE-BF87-7DA8-1FE41A876731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8E5DFDFD-6699-369E-5EF7-A8AB70BC39ED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A394A2-65B0-F208-EC7C-CCBF7806D317}"/>
              </a:ext>
            </a:extLst>
          </p:cNvPr>
          <p:cNvSpPr/>
          <p:nvPr/>
        </p:nvSpPr>
        <p:spPr>
          <a:xfrm>
            <a:off x="3353880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690B4-9AEB-0A8C-FACD-2AD2CEB3D642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3852304" y="3114199"/>
            <a:ext cx="309232" cy="3077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7606CB7-8AC0-B847-7B34-F74210A683F2}"/>
              </a:ext>
            </a:extLst>
          </p:cNvPr>
          <p:cNvSpPr txBox="1"/>
          <p:nvPr/>
        </p:nvSpPr>
        <p:spPr>
          <a:xfrm>
            <a:off x="4038604" y="342199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CB1380-E5A0-59D3-C796-FA64E7851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83738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D75A5B17-EFD5-FE8A-125F-4A66D73A279E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A24331-4F20-D183-681F-4FEEA0933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380EE4-6AA3-781A-DF15-750F6637D032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51FAD8-3AE9-83B2-7DD6-79DA10391F85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E9DEB-1401-A5AA-570C-ECAAF4484D63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1210190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1DB0F6D-3B28-3904-88E9-51B9DDDF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54D0A87C-E3E7-0DC4-ED24-21771DA79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E813625-4FE7-73D5-9F21-ABB4CABAD8D1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E813625-4FE7-73D5-9F21-ABB4CABAD8D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2185BD-1381-BDFB-C83C-36B7F5CB8496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8532BA21-A2FA-5D02-2B96-E720E76C0702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C37109-CAA6-09BE-54CD-2B49C6629091}"/>
              </a:ext>
            </a:extLst>
          </p:cNvPr>
          <p:cNvSpPr/>
          <p:nvPr/>
        </p:nvSpPr>
        <p:spPr>
          <a:xfrm>
            <a:off x="3349045" y="3346185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D0A86F-3126-7361-6A03-86B037DA8698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3847469" y="3539361"/>
            <a:ext cx="309232" cy="3077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1CC717-94AF-290A-7D32-9F2846953CA8}"/>
              </a:ext>
            </a:extLst>
          </p:cNvPr>
          <p:cNvSpPr txBox="1"/>
          <p:nvPr/>
        </p:nvSpPr>
        <p:spPr>
          <a:xfrm>
            <a:off x="4098362" y="372635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61EC1A-948A-0596-A1EA-975E38B39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823974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53348509-2323-7E68-0579-B32C52B0D14C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DE277F-727A-B810-2EF5-C7FF3276D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CC3B5D-E4D6-13CF-DA09-5D3E0982C344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EECADA-216B-B72C-EA58-874AB83D9F4F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59700-D3CF-DAB0-BC84-6DD1F692FE14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1221894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19BFCCAF-9C87-2A02-B1B9-A06CBCB8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2232D5C4-0FE3-517F-3749-11AF535A7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76736463-36A7-18A8-131C-1824580B04F9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76736463-36A7-18A8-131C-1824580B04F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7CDDD3-BB6F-20C0-1514-5DF4BD9543F6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D22C13D8-7631-96DA-E7E9-300F3C211408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9661E68-0588-5777-15D2-4B6250629086}"/>
              </a:ext>
            </a:extLst>
          </p:cNvPr>
          <p:cNvSpPr/>
          <p:nvPr/>
        </p:nvSpPr>
        <p:spPr>
          <a:xfrm>
            <a:off x="2750909" y="3361465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7ADAB-5118-9957-F51C-0279E8EE10C1}"/>
              </a:ext>
            </a:extLst>
          </p:cNvPr>
          <p:cNvCxnSpPr>
            <a:cxnSpLocks/>
          </p:cNvCxnSpPr>
          <p:nvPr/>
        </p:nvCxnSpPr>
        <p:spPr>
          <a:xfrm>
            <a:off x="3029523" y="3749041"/>
            <a:ext cx="309232" cy="3077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56F7F3-C3B0-E435-FAF6-13E375903D47}"/>
              </a:ext>
            </a:extLst>
          </p:cNvPr>
          <p:cNvSpPr txBox="1"/>
          <p:nvPr/>
        </p:nvSpPr>
        <p:spPr>
          <a:xfrm>
            <a:off x="3338755" y="39682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BA84DEB-6BDA-8809-3FC9-4BB550421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303348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951E4F0-19FC-3E0A-585E-0C2CDAC69574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3B5350-0570-8B28-43B5-B32953450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9059C1-EFF0-364B-A975-DA00319C72C6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4F758D-BBC0-EA82-B9CB-6B3BCCEDB8E1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8A39B-D593-7CD3-BDDF-F569250BB639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239557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98EE5C3C-2DF3-87BE-D844-03AE2BF4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A819B278-7AC7-ADF0-A9CC-658E47608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BE3D6B7-0BBA-1877-FA0D-1FEDCA3DC4B8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6BE3D6B7-0BBA-1877-FA0D-1FEDCA3DC4B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1DDCE-9757-F72C-034C-CC9E9A0357A4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9540D0D-61B1-ABCD-ED9D-E142A211D216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8E7AE9-41AF-3BB4-8F5A-CC9223B146E8}"/>
              </a:ext>
            </a:extLst>
          </p:cNvPr>
          <p:cNvSpPr/>
          <p:nvPr/>
        </p:nvSpPr>
        <p:spPr>
          <a:xfrm>
            <a:off x="2140522" y="3362690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2408E6-F209-1D90-659F-1BB111EEF940}"/>
              </a:ext>
            </a:extLst>
          </p:cNvPr>
          <p:cNvCxnSpPr>
            <a:cxnSpLocks/>
          </p:cNvCxnSpPr>
          <p:nvPr/>
        </p:nvCxnSpPr>
        <p:spPr>
          <a:xfrm>
            <a:off x="2389734" y="3749041"/>
            <a:ext cx="309232" cy="3077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3A9C12-87C1-2E4B-2659-A80A4A9F5DF9}"/>
              </a:ext>
            </a:extLst>
          </p:cNvPr>
          <p:cNvSpPr txBox="1"/>
          <p:nvPr/>
        </p:nvSpPr>
        <p:spPr>
          <a:xfrm>
            <a:off x="2638946" y="400775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3CDC1F-97A7-1AD4-0FCD-F698C4519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891840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Didact Gothic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4BC724DC-5196-28D8-E5EB-10AAE832F3EC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13F46B-DF8E-DE8B-433B-C5968D86F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3E7F73-D720-1E1A-E299-14ECD41B0B1E}"/>
              </a:ext>
            </a:extLst>
          </p:cNvPr>
          <p:cNvCxnSpPr>
            <a:cxnSpLocks/>
          </p:cNvCxnSpPr>
          <p:nvPr/>
        </p:nvCxnSpPr>
        <p:spPr>
          <a:xfrm flipV="1">
            <a:off x="1842079" y="3074911"/>
            <a:ext cx="908830" cy="347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6D8F37-E8DB-65DE-01AC-8B02587DB133}"/>
              </a:ext>
            </a:extLst>
          </p:cNvPr>
          <p:cNvSpPr txBox="1"/>
          <p:nvPr/>
        </p:nvSpPr>
        <p:spPr>
          <a:xfrm>
            <a:off x="1544454" y="3303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A34EB-E174-9A84-B7DE-4770F1D1BE69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1743116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AB94EC9-569F-2498-9ACC-5EDB86CD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30027606-1592-AE78-89A4-52D2984C5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FC9011F6-0069-E7D7-865D-FD887A8F3A2D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FC9011F6-0069-E7D7-865D-FD887A8F3A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B96A69-A537-BC2A-14EF-3A06503604B2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E7BE621-0641-0FF4-1E42-F9BB8940D3DD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577C32-3689-7E1C-C7F8-DEF5F388020A}"/>
              </a:ext>
            </a:extLst>
          </p:cNvPr>
          <p:cNvSpPr/>
          <p:nvPr/>
        </p:nvSpPr>
        <p:spPr>
          <a:xfrm>
            <a:off x="2162699" y="2926939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1263F7-F930-FDE8-C3BE-169B98163C70}"/>
              </a:ext>
            </a:extLst>
          </p:cNvPr>
          <p:cNvCxnSpPr>
            <a:cxnSpLocks/>
          </p:cNvCxnSpPr>
          <p:nvPr/>
        </p:nvCxnSpPr>
        <p:spPr>
          <a:xfrm>
            <a:off x="1595673" y="2733095"/>
            <a:ext cx="577790" cy="365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0CDEE9-32EA-E33F-C7F4-280DD9980C7E}"/>
              </a:ext>
            </a:extLst>
          </p:cNvPr>
          <p:cNvSpPr txBox="1"/>
          <p:nvPr/>
        </p:nvSpPr>
        <p:spPr>
          <a:xfrm>
            <a:off x="1400055" y="238537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8519799-1268-2043-4A68-6A6138398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909266"/>
              </p:ext>
            </p:extLst>
          </p:nvPr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761FE788-8BC2-CAF3-46E5-B708DAE0564F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3F08EF-A554-2199-1176-FB58332CA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045" y="1291003"/>
            <a:ext cx="2248095" cy="723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4B41D7-941B-3105-79A3-476326548658}"/>
              </a:ext>
            </a:extLst>
          </p:cNvPr>
          <p:cNvCxnSpPr>
            <a:cxnSpLocks/>
          </p:cNvCxnSpPr>
          <p:nvPr/>
        </p:nvCxnSpPr>
        <p:spPr>
          <a:xfrm flipH="1">
            <a:off x="3021284" y="1789710"/>
            <a:ext cx="796761" cy="11313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1D9719-B8F9-9FB0-F9AF-8CDDF605FBBC}"/>
              </a:ext>
            </a:extLst>
          </p:cNvPr>
          <p:cNvSpPr txBox="1"/>
          <p:nvPr/>
        </p:nvSpPr>
        <p:spPr>
          <a:xfrm>
            <a:off x="3682929" y="151481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561FD-E82E-8A06-EFEA-71F1D8D11118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99831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0A9B648-2305-5502-EDB8-2293FEA1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18CE864F-6AEE-E00D-A157-7D576D371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9A2A34D9-5AD3-5033-E54B-963490F0CB25}"/>
                  </a:ext>
                </a:extLst>
              </p:cNvPr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Step 2: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​−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baseline="-25000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257" name="Google Shape;257;p26">
                <a:extLst>
                  <a:ext uri="{FF2B5EF4-FFF2-40B4-BE49-F238E27FC236}">
                    <a16:creationId xmlns:a16="http://schemas.microsoft.com/office/drawing/2014/main" id="{9A2A34D9-5AD3-5033-E54B-963490F0CB2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720000" y="1370894"/>
                <a:ext cx="7704000" cy="3291047"/>
              </a:xfrm>
              <a:prstGeom prst="rect">
                <a:avLst/>
              </a:prstGeom>
              <a:blipFill>
                <a:blip r:embed="rId3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1C2C7E-B258-5986-F893-1F9F6C89FAD5}"/>
              </a:ext>
            </a:extLst>
          </p:cNvPr>
          <p:cNvGraphicFramePr>
            <a:graphicFrameLocks noGrp="1"/>
          </p:cNvGraphicFramePr>
          <p:nvPr/>
        </p:nvGraphicFramePr>
        <p:xfrm>
          <a:off x="20916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53DD875-3FFB-FA70-F0ED-92A67AF6D5FA}"/>
              </a:ext>
            </a:extLst>
          </p:cNvPr>
          <p:cNvSpPr/>
          <p:nvPr/>
        </p:nvSpPr>
        <p:spPr>
          <a:xfrm>
            <a:off x="2752595" y="2921023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5524BAB-FBC2-E90F-97B8-35B038359587}"/>
              </a:ext>
            </a:extLst>
          </p:cNvPr>
          <p:cNvSpPr/>
          <p:nvPr/>
        </p:nvSpPr>
        <p:spPr>
          <a:xfrm>
            <a:off x="4291016" y="3016417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B64A30-4F93-0CF8-073B-0F278F76AD8D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2309424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C932065F-7C5E-7A2E-B201-ECEE499DFFD1}"/>
              </a:ext>
            </a:extLst>
          </p:cNvPr>
          <p:cNvSpPr/>
          <p:nvPr/>
        </p:nvSpPr>
        <p:spPr>
          <a:xfrm>
            <a:off x="5918795" y="2378574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A49AB2-D6A1-77E1-AA24-17BC2BF48BB7}"/>
              </a:ext>
            </a:extLst>
          </p:cNvPr>
          <p:cNvSpPr/>
          <p:nvPr/>
        </p:nvSpPr>
        <p:spPr>
          <a:xfrm>
            <a:off x="5292539" y="2921022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A03D9D-99D1-FA15-C5EA-7064DA95ED28}"/>
              </a:ext>
            </a:extLst>
          </p:cNvPr>
          <p:cNvSpPr/>
          <p:nvPr/>
        </p:nvSpPr>
        <p:spPr>
          <a:xfrm>
            <a:off x="6516501" y="3342788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B268A-3214-9921-C8B6-432C7712C22E}"/>
              </a:ext>
            </a:extLst>
          </p:cNvPr>
          <p:cNvSpPr txBox="1"/>
          <p:nvPr/>
        </p:nvSpPr>
        <p:spPr>
          <a:xfrm>
            <a:off x="5257800" y="3749009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69774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A43A469-4A9E-0875-7A7B-79CFE7D6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67B9EB34-9280-5A1B-7EC4-7049677E56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FF90ABD9-47AE-7505-4773-65A4C860BD2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Step 3: LBP encoding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03DA69-864F-8082-C4CE-B792A227C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811764"/>
              </p:ext>
            </p:extLst>
          </p:nvPr>
        </p:nvGraphicFramePr>
        <p:xfrm>
          <a:off x="1229665" y="2291361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4D952F4E-E3DD-A9AA-0D63-B4E04BCDD995}"/>
              </a:ext>
            </a:extLst>
          </p:cNvPr>
          <p:cNvSpPr/>
          <p:nvPr/>
        </p:nvSpPr>
        <p:spPr>
          <a:xfrm>
            <a:off x="5456056" y="3015906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B6B5F2-AD54-F6F1-E8D4-D25AC3FF2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81074"/>
              </p:ext>
            </p:extLst>
          </p:nvPr>
        </p:nvGraphicFramePr>
        <p:xfrm>
          <a:off x="6239656" y="2291360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311541-9411-EA9D-0167-E9FDED6CE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126038"/>
              </p:ext>
            </p:extLst>
          </p:nvPr>
        </p:nvGraphicFramePr>
        <p:xfrm>
          <a:off x="3559745" y="2290850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F974F9AA-5270-7C40-3EB5-C63A4918A349}"/>
              </a:ext>
            </a:extLst>
          </p:cNvPr>
          <p:cNvSpPr/>
          <p:nvPr/>
        </p:nvSpPr>
        <p:spPr>
          <a:xfrm>
            <a:off x="3105074" y="2876935"/>
            <a:ext cx="374754" cy="44221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58D4B8-CCC9-B06D-8761-28F82A38FE1D}"/>
              </a:ext>
            </a:extLst>
          </p:cNvPr>
          <p:cNvSpPr/>
          <p:nvPr/>
        </p:nvSpPr>
        <p:spPr>
          <a:xfrm>
            <a:off x="6896425" y="2390396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3C9777-446A-81B9-E88C-E76E1FE9197B}"/>
              </a:ext>
            </a:extLst>
          </p:cNvPr>
          <p:cNvSpPr/>
          <p:nvPr/>
        </p:nvSpPr>
        <p:spPr>
          <a:xfrm>
            <a:off x="6297088" y="2904864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24BECE-7B25-D5DE-51D9-FAAFED8FBB53}"/>
              </a:ext>
            </a:extLst>
          </p:cNvPr>
          <p:cNvSpPr/>
          <p:nvPr/>
        </p:nvSpPr>
        <p:spPr>
          <a:xfrm>
            <a:off x="7509121" y="3347115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2BB805-F6CE-0FC3-9630-5FCAD17071BC}"/>
              </a:ext>
            </a:extLst>
          </p:cNvPr>
          <p:cNvSpPr txBox="1"/>
          <p:nvPr/>
        </p:nvSpPr>
        <p:spPr>
          <a:xfrm>
            <a:off x="3559745" y="3762541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2</a:t>
            </a:r>
            <a:r>
              <a:rPr lang="en-US" sz="1600" b="1" baseline="30000" dirty="0">
                <a:latin typeface="Didact Gothic" panose="00000500000000000000" pitchFamily="2" charset="0"/>
              </a:rPr>
              <a:t>k </a:t>
            </a:r>
            <a:r>
              <a:rPr lang="en-US" sz="1600" b="1" dirty="0">
                <a:latin typeface="Didact Gothic" panose="00000500000000000000" pitchFamily="2" charset="0"/>
              </a:rPr>
              <a:t>matrix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0AC3E-4C93-3816-6C81-86B2A91B251E}"/>
              </a:ext>
            </a:extLst>
          </p:cNvPr>
          <p:cNvSpPr txBox="1"/>
          <p:nvPr/>
        </p:nvSpPr>
        <p:spPr>
          <a:xfrm>
            <a:off x="6239655" y="3762541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LBP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33C97-9965-6B7C-C2C3-A08289CDCBA3}"/>
              </a:ext>
            </a:extLst>
          </p:cNvPr>
          <p:cNvSpPr txBox="1"/>
          <p:nvPr/>
        </p:nvSpPr>
        <p:spPr>
          <a:xfrm>
            <a:off x="1229664" y="3762541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</p:spTree>
    <p:extLst>
      <p:ext uri="{BB962C8B-B14F-4D97-AF65-F5344CB8AC3E}">
        <p14:creationId xmlns:p14="http://schemas.microsoft.com/office/powerpoint/2010/main" val="315777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C24F0B26-8DE3-1774-87D7-889488A0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B54B34E-B823-67F9-FA6B-5D6B2DAA2F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A093BF8D-5FA9-D6A7-7394-82042138070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/>
              <a:t>Step 3: LBP encoding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372B8F-1164-5E2B-AEDC-4F5634D9E55E}"/>
              </a:ext>
            </a:extLst>
          </p:cNvPr>
          <p:cNvGraphicFramePr>
            <a:graphicFrameLocks noGrp="1"/>
          </p:cNvGraphicFramePr>
          <p:nvPr/>
        </p:nvGraphicFramePr>
        <p:xfrm>
          <a:off x="1229665" y="2291361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30AEA950-EB65-0437-C59F-FD5D6F2B8B90}"/>
              </a:ext>
            </a:extLst>
          </p:cNvPr>
          <p:cNvSpPr/>
          <p:nvPr/>
        </p:nvSpPr>
        <p:spPr>
          <a:xfrm>
            <a:off x="5456056" y="3015906"/>
            <a:ext cx="561968" cy="82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4DB633-D3D5-9893-6660-741D2C5451B8}"/>
              </a:ext>
            </a:extLst>
          </p:cNvPr>
          <p:cNvGraphicFramePr>
            <a:graphicFrameLocks noGrp="1"/>
          </p:cNvGraphicFramePr>
          <p:nvPr/>
        </p:nvGraphicFramePr>
        <p:xfrm>
          <a:off x="6239656" y="2291360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</a:t>
                      </a:r>
                      <a:r>
                        <a:rPr lang="en-US" sz="1600" baseline="-25000" dirty="0">
                          <a:latin typeface="Didact Gothic" panose="00000500000000000000" pitchFamily="2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19EA07-C38E-4561-858E-4A5084615439}"/>
              </a:ext>
            </a:extLst>
          </p:cNvPr>
          <p:cNvGraphicFramePr>
            <a:graphicFrameLocks noGrp="1"/>
          </p:cNvGraphicFramePr>
          <p:nvPr/>
        </p:nvGraphicFramePr>
        <p:xfrm>
          <a:off x="3559745" y="2290850"/>
          <a:ext cx="1820415" cy="1450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05">
                  <a:extLst>
                    <a:ext uri="{9D8B030D-6E8A-4147-A177-3AD203B41FA5}">
                      <a16:colId xmlns:a16="http://schemas.microsoft.com/office/drawing/2014/main" val="2040934412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2505939541"/>
                    </a:ext>
                  </a:extLst>
                </a:gridCol>
                <a:gridCol w="606805">
                  <a:extLst>
                    <a:ext uri="{9D8B030D-6E8A-4147-A177-3AD203B41FA5}">
                      <a16:colId xmlns:a16="http://schemas.microsoft.com/office/drawing/2014/main" val="3125935612"/>
                    </a:ext>
                  </a:extLst>
                </a:gridCol>
              </a:tblGrid>
              <a:tr h="59159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151571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94184"/>
                  </a:ext>
                </a:extLst>
              </a:tr>
              <a:tr h="429257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Didact Gothic" panose="00000500000000000000" pitchFamily="2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31307"/>
                  </a:ext>
                </a:extLst>
              </a:tr>
            </a:tbl>
          </a:graphicData>
        </a:graphic>
      </p:graphicFrame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AE5C3914-7431-2045-41A0-BDE1215F326B}"/>
              </a:ext>
            </a:extLst>
          </p:cNvPr>
          <p:cNvSpPr/>
          <p:nvPr/>
        </p:nvSpPr>
        <p:spPr>
          <a:xfrm>
            <a:off x="3105074" y="2876935"/>
            <a:ext cx="374754" cy="44221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F02674-8AD9-62A3-2084-BAF5E44CAC2E}"/>
              </a:ext>
            </a:extLst>
          </p:cNvPr>
          <p:cNvSpPr/>
          <p:nvPr/>
        </p:nvSpPr>
        <p:spPr>
          <a:xfrm>
            <a:off x="6900651" y="2904864"/>
            <a:ext cx="498424" cy="386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50D340-EC20-6238-47AC-42C179F86C0C}"/>
              </a:ext>
            </a:extLst>
          </p:cNvPr>
          <p:cNvCxnSpPr>
            <a:cxnSpLocks/>
          </p:cNvCxnSpPr>
          <p:nvPr/>
        </p:nvCxnSpPr>
        <p:spPr>
          <a:xfrm>
            <a:off x="6503699" y="1941226"/>
            <a:ext cx="613875" cy="9636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EEC991-4DFB-D989-D852-422CDAFA1027}"/>
                  </a:ext>
                </a:extLst>
              </p:cNvPr>
              <p:cNvSpPr txBox="1"/>
              <p:nvPr/>
            </p:nvSpPr>
            <p:spPr>
              <a:xfrm>
                <a:off x="6239656" y="1352860"/>
                <a:ext cx="1875385" cy="58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146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EEC991-4DFB-D989-D852-422CDAFA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656" y="1352860"/>
                <a:ext cx="1875385" cy="588366"/>
              </a:xfrm>
              <a:prstGeom prst="rect">
                <a:avLst/>
              </a:prstGeom>
              <a:blipFill>
                <a:blip r:embed="rId3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86777A4-A31D-F04E-7FAD-48F0CFB17872}"/>
              </a:ext>
            </a:extLst>
          </p:cNvPr>
          <p:cNvSpPr txBox="1"/>
          <p:nvPr/>
        </p:nvSpPr>
        <p:spPr>
          <a:xfrm>
            <a:off x="1229665" y="3759506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Binary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15BF0-96A9-D4CA-4E88-0020B56A84D3}"/>
              </a:ext>
            </a:extLst>
          </p:cNvPr>
          <p:cNvSpPr txBox="1"/>
          <p:nvPr/>
        </p:nvSpPr>
        <p:spPr>
          <a:xfrm>
            <a:off x="3559745" y="3762541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2</a:t>
            </a:r>
            <a:r>
              <a:rPr lang="en-US" sz="1600" b="1" baseline="30000" dirty="0">
                <a:latin typeface="Didact Gothic" panose="00000500000000000000" pitchFamily="2" charset="0"/>
              </a:rPr>
              <a:t>k </a:t>
            </a:r>
            <a:r>
              <a:rPr lang="en-US" sz="1600" b="1" dirty="0">
                <a:latin typeface="Didact Gothic" panose="00000500000000000000" pitchFamily="2" charset="0"/>
              </a:rPr>
              <a:t>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5E195-2ED2-767D-E0AA-E77634938C8A}"/>
              </a:ext>
            </a:extLst>
          </p:cNvPr>
          <p:cNvSpPr txBox="1"/>
          <p:nvPr/>
        </p:nvSpPr>
        <p:spPr>
          <a:xfrm>
            <a:off x="6239655" y="3762541"/>
            <a:ext cx="182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Didact Gothic" panose="00000500000000000000" pitchFamily="2" charset="0"/>
              </a:rPr>
              <a:t>LBP</a:t>
            </a:r>
          </a:p>
        </p:txBody>
      </p:sp>
    </p:spTree>
    <p:extLst>
      <p:ext uri="{BB962C8B-B14F-4D97-AF65-F5344CB8AC3E}">
        <p14:creationId xmlns:p14="http://schemas.microsoft.com/office/powerpoint/2010/main" val="216635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472DBEF2-F039-48A7-7D26-AED30FF9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1F92A896-73D2-AD17-FBC2-1F7292EE6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E44AD-E1D4-6F58-C8C5-6D147B2C4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6" y="1564841"/>
            <a:ext cx="8689948" cy="286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20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AC61E6A6-A754-A0B0-F11F-87F15FAD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4EC5DBF3-47E7-9C0C-5A5B-1498C0776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Local Feature → Global Representation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A45DEE6D-4644-4323-0001-87A2DF0FF39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After computing LBP for every pixel, we obtain a texture map.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We extract a histogram of LBP values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Histogram becomes the final feature vector used for: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Classification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Segmentation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Recognition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Anomaly detection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43816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81C2375E-F458-4047-A82F-5F3C9EDD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716EA0BC-1057-9973-A681-504108C0E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Advantages of LBP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6249CFF3-B43E-255F-53DE-D86F247379E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Very fast and simple to compute.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Works well even when lighting changes (brightness/contrast changes).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Captures local texture patterns like edges, corners, and spots.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Produces features that are easy to use in machine learning.</a:t>
            </a:r>
          </a:p>
          <a:p>
            <a:pPr marL="0" indent="0">
              <a:buNone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Low memory usage → suitable for real-time systems</a:t>
            </a:r>
          </a:p>
        </p:txBody>
      </p:sp>
    </p:spTree>
    <p:extLst>
      <p:ext uri="{BB962C8B-B14F-4D97-AF65-F5344CB8AC3E}">
        <p14:creationId xmlns:p14="http://schemas.microsoft.com/office/powerpoint/2010/main" val="224204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A6762488-224C-8EAD-9FD3-90AF21EE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935BE8D5-822F-CEBC-B870-D62B52405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Limitations of LBP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AB443BC9-840D-5329-9992-63879B43D9D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Sensitive to noise, especially in flat or low-contrast areas.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Only captures local information → misses global or large-scale patterns.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Standard LBP is not rotation-invariant unless improved versions are used.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Binary thresholding (≥ or &lt;) may lose fine intensity differences.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Histogram features can become large if many neighborhoods are used</a:t>
            </a:r>
          </a:p>
        </p:txBody>
      </p:sp>
    </p:spTree>
    <p:extLst>
      <p:ext uri="{BB962C8B-B14F-4D97-AF65-F5344CB8AC3E}">
        <p14:creationId xmlns:p14="http://schemas.microsoft.com/office/powerpoint/2010/main" val="56347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E3041BC4-92EF-127C-1BC2-75C5999C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D2724FC4-06DB-0011-6C57-D97190FB5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Applications of LBP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C45E6E17-0380-850C-485A-E3E3EB1D6FE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Face recognition </a:t>
            </a:r>
            <a:r>
              <a:rPr lang="en-US" sz="1600" dirty="0"/>
              <a:t>(LBPH algorithm).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Medical image analysis </a:t>
            </a:r>
            <a:r>
              <a:rPr lang="en-US" sz="1600" dirty="0"/>
              <a:t>— detecting tumors or abnormal tissue textures.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Industrial inspection </a:t>
            </a:r>
            <a:r>
              <a:rPr lang="en-US" sz="1600" dirty="0"/>
              <a:t>— detecting cracks, scratches, or surface defects.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Surveillance </a:t>
            </a:r>
            <a:r>
              <a:rPr lang="en-US" sz="1600" dirty="0"/>
              <a:t>— human and object detection.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Remote sensing </a:t>
            </a:r>
            <a:r>
              <a:rPr lang="en-US" sz="1600" dirty="0"/>
              <a:t>— land-use and vegetation texture classification.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Document analysis </a:t>
            </a:r>
            <a:r>
              <a:rPr lang="en-US" sz="1600" dirty="0"/>
              <a:t>— paper texture and print quality recognition.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Agricultural imaging </a:t>
            </a:r>
            <a:r>
              <a:rPr lang="en-US" sz="1600" dirty="0"/>
              <a:t>— plant disease texture detection</a:t>
            </a:r>
          </a:p>
        </p:txBody>
      </p:sp>
    </p:spTree>
    <p:extLst>
      <p:ext uri="{BB962C8B-B14F-4D97-AF65-F5344CB8AC3E}">
        <p14:creationId xmlns:p14="http://schemas.microsoft.com/office/powerpoint/2010/main" val="415165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7305760E-C168-B5BF-FEDD-90FDF173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>
            <a:extLst>
              <a:ext uri="{FF2B5EF4-FFF2-40B4-BE49-F238E27FC236}">
                <a16:creationId xmlns:a16="http://schemas.microsoft.com/office/drawing/2014/main" id="{76BBCD4F-9F1B-B791-2121-94451DA667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Comparison</a:t>
            </a:r>
            <a:endParaRPr dirty="0"/>
          </a:p>
        </p:txBody>
      </p:sp>
      <p:sp>
        <p:nvSpPr>
          <p:cNvPr id="257" name="Google Shape;257;p26">
            <a:extLst>
              <a:ext uri="{FF2B5EF4-FFF2-40B4-BE49-F238E27FC236}">
                <a16:creationId xmlns:a16="http://schemas.microsoft.com/office/drawing/2014/main" id="{F9912CD1-4596-54C4-8910-BA80A4CF4B3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370894"/>
            <a:ext cx="7704000" cy="3291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LBP vs GLCM Features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078527-4F24-0A8D-BC33-3E135056A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496393"/>
              </p:ext>
            </p:extLst>
          </p:nvPr>
        </p:nvGraphicFramePr>
        <p:xfrm>
          <a:off x="1528342" y="1979576"/>
          <a:ext cx="6087315" cy="217270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29105">
                  <a:extLst>
                    <a:ext uri="{9D8B030D-6E8A-4147-A177-3AD203B41FA5}">
                      <a16:colId xmlns:a16="http://schemas.microsoft.com/office/drawing/2014/main" val="3876222741"/>
                    </a:ext>
                  </a:extLst>
                </a:gridCol>
                <a:gridCol w="2029105">
                  <a:extLst>
                    <a:ext uri="{9D8B030D-6E8A-4147-A177-3AD203B41FA5}">
                      <a16:colId xmlns:a16="http://schemas.microsoft.com/office/drawing/2014/main" val="1933219972"/>
                    </a:ext>
                  </a:extLst>
                </a:gridCol>
                <a:gridCol w="2029105">
                  <a:extLst>
                    <a:ext uri="{9D8B030D-6E8A-4147-A177-3AD203B41FA5}">
                      <a16:colId xmlns:a16="http://schemas.microsoft.com/office/drawing/2014/main" val="38103800"/>
                    </a:ext>
                  </a:extLst>
                </a:gridCol>
              </a:tblGrid>
              <a:tr h="324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Didact Gothic" panose="00000500000000000000" pitchFamily="2" charset="0"/>
                        </a:rPr>
                        <a:t>Feature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Didact Gothic" panose="00000500000000000000" pitchFamily="2" charset="0"/>
                        </a:rPr>
                        <a:t>LBP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Didact Gothic" panose="00000500000000000000" pitchFamily="2" charset="0"/>
                        </a:rPr>
                        <a:t>GLCM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6854407"/>
                  </a:ext>
                </a:extLst>
              </a:tr>
              <a:tr h="32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Didact Gothic" panose="00000500000000000000" pitchFamily="2" charset="0"/>
                        </a:rPr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3901323"/>
                  </a:ext>
                </a:extLst>
              </a:tr>
              <a:tr h="32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Didact Gothic" panose="00000500000000000000" pitchFamily="2" charset="0"/>
                        </a:rPr>
                        <a:t>Uses Local Info?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1979169"/>
                  </a:ext>
                </a:extLst>
              </a:tr>
              <a:tr h="55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Didact Gothic" panose="00000500000000000000" pitchFamily="2" charset="0"/>
                        </a:rPr>
                        <a:t>Histogram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Small-medium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Depends on L, D, angles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6396772"/>
                  </a:ext>
                </a:extLst>
              </a:tr>
              <a:tr h="32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Didact Gothic" panose="00000500000000000000" pitchFamily="2" charset="0"/>
                        </a:rPr>
                        <a:t>Dataset size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Didact Gothic" panose="00000500000000000000" pitchFamily="2" charset="0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018528"/>
                  </a:ext>
                </a:extLst>
              </a:tr>
              <a:tr h="32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Didact Gothic" panose="00000500000000000000" pitchFamily="2" charset="0"/>
                        </a:rPr>
                        <a:t>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393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91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1355163" y="185991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cxnSp>
        <p:nvCxnSpPr>
          <p:cNvPr id="737" name="Google Shape;737;p37"/>
          <p:cNvCxnSpPr/>
          <p:nvPr/>
        </p:nvCxnSpPr>
        <p:spPr>
          <a:xfrm>
            <a:off x="1431100" y="2967493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DD8035C-36C6-A2D6-EA18-8D113CDFB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22" y="3605891"/>
            <a:ext cx="5335781" cy="723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2378</Words>
  <Application>Microsoft Office PowerPoint</Application>
  <PresentationFormat>On-screen Show (16:9)</PresentationFormat>
  <Paragraphs>1057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Wingdings</vt:lpstr>
      <vt:lpstr>Libre Franklin</vt:lpstr>
      <vt:lpstr>Didact Gothic</vt:lpstr>
      <vt:lpstr>Poppins</vt:lpstr>
      <vt:lpstr>Arial</vt:lpstr>
      <vt:lpstr>Cambria Math</vt:lpstr>
      <vt:lpstr>Raleway</vt:lpstr>
      <vt:lpstr>Cycle Diagrams Theme for a Business Plan by Slidesgo</vt:lpstr>
      <vt:lpstr>Gray Level Co-occurrence Matrix (GLCM)</vt:lpstr>
      <vt:lpstr>Gray Level Co-occurrence (GLCM)</vt:lpstr>
      <vt:lpstr>Gray Level Co-occurrence (GLCM)</vt:lpstr>
      <vt:lpstr>Gray Level Co-occurrence (GLCM)</vt:lpstr>
      <vt:lpstr>Gray Level Co-occurrence (GLCM)</vt:lpstr>
      <vt:lpstr>Main Mechanism of GLCM</vt:lpstr>
      <vt:lpstr>Main mechanism of GLCM</vt:lpstr>
      <vt:lpstr>Main mechanism of GLCM</vt:lpstr>
      <vt:lpstr>Main mechanism of GLCM</vt:lpstr>
      <vt:lpstr>Main mechanism of GLCM</vt:lpstr>
      <vt:lpstr>Main mechanism of GLCM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Advantages of GLCM</vt:lpstr>
      <vt:lpstr>Limitations of GLCM</vt:lpstr>
      <vt:lpstr>Limitations of GLCM</vt:lpstr>
      <vt:lpstr>Applications of GLCM</vt:lpstr>
      <vt:lpstr>Local Binary Pattern (LBP)</vt:lpstr>
      <vt:lpstr>Local Binary Pattern (LBP)</vt:lpstr>
      <vt:lpstr>Main mechanism of LBP</vt:lpstr>
      <vt:lpstr>Main mechanism of LBP</vt:lpstr>
      <vt:lpstr>Main mechanism of LBP</vt:lpstr>
      <vt:lpstr>Main mechanism of LBP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Local Feature → Global Representation</vt:lpstr>
      <vt:lpstr>Advantages of LBP</vt:lpstr>
      <vt:lpstr>Limitations of LBP</vt:lpstr>
      <vt:lpstr>Applications of LBP</vt:lpstr>
      <vt:lpstr>Comparison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RAIYAN GANI</dc:creator>
  <cp:lastModifiedBy>RAIYAN GANI</cp:lastModifiedBy>
  <cp:revision>34</cp:revision>
  <dcterms:modified xsi:type="dcterms:W3CDTF">2025-12-14T04:59:43Z</dcterms:modified>
</cp:coreProperties>
</file>